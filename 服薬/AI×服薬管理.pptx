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9"/>
  </p:notesMasterIdLst>
  <p:sldIdLst>
    <p:sldId id="256" r:id="rId2"/>
    <p:sldId id="270" r:id="rId3"/>
    <p:sldId id="269" r:id="rId4"/>
    <p:sldId id="258" r:id="rId5"/>
    <p:sldId id="259" r:id="rId6"/>
    <p:sldId id="261" r:id="rId7"/>
    <p:sldId id="260" r:id="rId8"/>
    <p:sldId id="273" r:id="rId9"/>
    <p:sldId id="275" r:id="rId10"/>
    <p:sldId id="276" r:id="rId11"/>
    <p:sldId id="277" r:id="rId12"/>
    <p:sldId id="267" r:id="rId13"/>
    <p:sldId id="268" r:id="rId14"/>
    <p:sldId id="265" r:id="rId15"/>
    <p:sldId id="274" r:id="rId16"/>
    <p:sldId id="271" r:id="rId17"/>
    <p:sldId id="27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2024_MS 中村 颯真" initials="2中颯" lastIdx="1" clrIdx="0">
    <p:extLst>
      <p:ext uri="{19B8F6BF-5375-455C-9EA6-DF929625EA0E}">
        <p15:presenceInfo xmlns:p15="http://schemas.microsoft.com/office/powerpoint/2012/main" userId="S-1-5-21-788218778-1230858366-389272349-100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4" autoAdjust="0"/>
    <p:restoredTop sz="94660"/>
  </p:normalViewPr>
  <p:slideViewPr>
    <p:cSldViewPr snapToGrid="0">
      <p:cViewPr varScale="1">
        <p:scale>
          <a:sx n="81" d="100"/>
          <a:sy n="81" d="100"/>
        </p:scale>
        <p:origin x="754" y="48"/>
      </p:cViewPr>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F6EEE6E-B7C5-452B-8B7B-59DFA4A709D0}" type="doc">
      <dgm:prSet loTypeId="urn:microsoft.com/office/officeart/2005/8/layout/hProcess9" loCatId="process" qsTypeId="urn:microsoft.com/office/officeart/2005/8/quickstyle/simple1" qsCatId="simple" csTypeId="urn:microsoft.com/office/officeart/2005/8/colors/accent1_2" csCatId="accent1" phldr="1"/>
      <dgm:spPr/>
      <dgm:t>
        <a:bodyPr/>
        <a:lstStyle/>
        <a:p>
          <a:endParaRPr kumimoji="1" lang="ja-JP" altLang="en-US"/>
        </a:p>
      </dgm:t>
    </dgm:pt>
    <dgm:pt modelId="{E5941415-8B13-4B2D-8A26-1462FBEEBDB7}">
      <dgm:prSet phldrT="[テキスト]" custT="1"/>
      <dgm:spPr/>
      <dgm:t>
        <a:bodyPr/>
        <a:lstStyle/>
        <a:p>
          <a:r>
            <a:rPr kumimoji="1" lang="ja-JP" altLang="en-US" sz="3400" dirty="0">
              <a:latin typeface="ＭＳ 明朝" panose="02020609040205080304" pitchFamily="17" charset="-128"/>
              <a:ea typeface="ＭＳ 明朝" panose="02020609040205080304" pitchFamily="17" charset="-128"/>
            </a:rPr>
            <a:t>患者</a:t>
          </a:r>
          <a:r>
            <a:rPr kumimoji="1" lang="ja-JP" altLang="en-US" sz="4600" dirty="0"/>
            <a:t>　</a:t>
          </a:r>
        </a:p>
      </dgm:t>
    </dgm:pt>
    <dgm:pt modelId="{A92FE7AF-FA0C-41DA-B459-5068CBBECE97}" type="parTrans" cxnId="{1882B717-BDC5-4997-AA04-883892EBD84E}">
      <dgm:prSet/>
      <dgm:spPr/>
      <dgm:t>
        <a:bodyPr/>
        <a:lstStyle/>
        <a:p>
          <a:endParaRPr kumimoji="1" lang="ja-JP" altLang="en-US"/>
        </a:p>
      </dgm:t>
    </dgm:pt>
    <dgm:pt modelId="{4677CC42-61BE-4A3D-96A8-DB77CCA7FF09}" type="sibTrans" cxnId="{1882B717-BDC5-4997-AA04-883892EBD84E}">
      <dgm:prSet/>
      <dgm:spPr/>
      <dgm:t>
        <a:bodyPr/>
        <a:lstStyle/>
        <a:p>
          <a:endParaRPr kumimoji="1" lang="ja-JP" altLang="en-US"/>
        </a:p>
      </dgm:t>
    </dgm:pt>
    <dgm:pt modelId="{8859A223-BAAE-4431-B885-8CF1BE33BBE2}">
      <dgm:prSet phldrT="[テキスト]" custT="1"/>
      <dgm:spPr/>
      <dgm:t>
        <a:bodyPr/>
        <a:lstStyle/>
        <a:p>
          <a:r>
            <a:rPr kumimoji="1" lang="en-US" altLang="ja-JP" sz="3400" dirty="0">
              <a:latin typeface="ＭＳ 明朝" panose="02020609040205080304" pitchFamily="17" charset="-128"/>
              <a:ea typeface="ＭＳ 明朝" panose="02020609040205080304" pitchFamily="17" charset="-128"/>
            </a:rPr>
            <a:t>AI</a:t>
          </a:r>
          <a:endParaRPr kumimoji="1" lang="ja-JP" altLang="en-US" sz="3400" dirty="0">
            <a:latin typeface="ＭＳ 明朝" panose="02020609040205080304" pitchFamily="17" charset="-128"/>
            <a:ea typeface="ＭＳ 明朝" panose="02020609040205080304" pitchFamily="17" charset="-128"/>
          </a:endParaRPr>
        </a:p>
      </dgm:t>
    </dgm:pt>
    <dgm:pt modelId="{23FA1513-9416-4652-B1AE-9CC537A04B1A}" type="parTrans" cxnId="{B1A9E8FC-9A84-40C2-B7FD-080B0589B144}">
      <dgm:prSet/>
      <dgm:spPr/>
      <dgm:t>
        <a:bodyPr/>
        <a:lstStyle/>
        <a:p>
          <a:endParaRPr kumimoji="1" lang="ja-JP" altLang="en-US"/>
        </a:p>
      </dgm:t>
    </dgm:pt>
    <dgm:pt modelId="{43AFC340-1452-445E-B02B-E342318EDCBB}" type="sibTrans" cxnId="{B1A9E8FC-9A84-40C2-B7FD-080B0589B144}">
      <dgm:prSet/>
      <dgm:spPr/>
      <dgm:t>
        <a:bodyPr/>
        <a:lstStyle/>
        <a:p>
          <a:endParaRPr kumimoji="1" lang="ja-JP" altLang="en-US"/>
        </a:p>
      </dgm:t>
    </dgm:pt>
    <dgm:pt modelId="{894E09B8-9B99-4417-82CD-CB4F6179E03F}">
      <dgm:prSet phldrT="[テキスト]" custT="1"/>
      <dgm:spPr/>
      <dgm:t>
        <a:bodyPr/>
        <a:lstStyle/>
        <a:p>
          <a:r>
            <a:rPr kumimoji="1" lang="ja-JP" altLang="en-US" sz="3400" dirty="0">
              <a:latin typeface="ＭＳ 明朝" panose="02020609040205080304" pitchFamily="17" charset="-128"/>
              <a:ea typeface="ＭＳ 明朝" panose="02020609040205080304" pitchFamily="17" charset="-128"/>
            </a:rPr>
            <a:t>アプリ</a:t>
          </a:r>
        </a:p>
      </dgm:t>
    </dgm:pt>
    <dgm:pt modelId="{1DBB6926-150C-4587-9CB3-E3227B072D33}" type="parTrans" cxnId="{0E0482AA-EA14-499B-A8A7-20B92C80518C}">
      <dgm:prSet/>
      <dgm:spPr/>
      <dgm:t>
        <a:bodyPr/>
        <a:lstStyle/>
        <a:p>
          <a:endParaRPr kumimoji="1" lang="ja-JP" altLang="en-US"/>
        </a:p>
      </dgm:t>
    </dgm:pt>
    <dgm:pt modelId="{03198461-65A1-425E-A2D7-8352EC39619B}" type="sibTrans" cxnId="{0E0482AA-EA14-499B-A8A7-20B92C80518C}">
      <dgm:prSet/>
      <dgm:spPr/>
      <dgm:t>
        <a:bodyPr/>
        <a:lstStyle/>
        <a:p>
          <a:endParaRPr kumimoji="1" lang="ja-JP" altLang="en-US"/>
        </a:p>
      </dgm:t>
    </dgm:pt>
    <dgm:pt modelId="{07295068-33BA-4D6E-B8EF-E9F48D4B372E}">
      <dgm:prSet phldrT="[テキスト]" custT="1"/>
      <dgm:spPr/>
      <dgm:t>
        <a:bodyPr/>
        <a:lstStyle/>
        <a:p>
          <a:r>
            <a:rPr kumimoji="1" lang="ja-JP" altLang="en-US" sz="3400" dirty="0">
              <a:latin typeface="ＭＳ 明朝" panose="02020609040205080304" pitchFamily="17" charset="-128"/>
              <a:ea typeface="ＭＳ 明朝" panose="02020609040205080304" pitchFamily="17" charset="-128"/>
            </a:rPr>
            <a:t>薬局</a:t>
          </a:r>
          <a:r>
            <a:rPr kumimoji="1" lang="en-US" altLang="ja-JP" sz="3400" dirty="0">
              <a:latin typeface="ＭＳ 明朝" panose="02020609040205080304" pitchFamily="17" charset="-128"/>
              <a:ea typeface="ＭＳ 明朝" panose="02020609040205080304" pitchFamily="17" charset="-128"/>
            </a:rPr>
            <a:t>/</a:t>
          </a:r>
        </a:p>
        <a:p>
          <a:r>
            <a:rPr kumimoji="1" lang="ja-JP" altLang="en-US" sz="3400" dirty="0">
              <a:latin typeface="ＭＳ 明朝" panose="02020609040205080304" pitchFamily="17" charset="-128"/>
              <a:ea typeface="ＭＳ 明朝" panose="02020609040205080304" pitchFamily="17" charset="-128"/>
            </a:rPr>
            <a:t>医師</a:t>
          </a:r>
          <a:r>
            <a:rPr kumimoji="1" lang="ja-JP" altLang="en-US" sz="2400" dirty="0"/>
            <a:t>　</a:t>
          </a:r>
        </a:p>
      </dgm:t>
    </dgm:pt>
    <dgm:pt modelId="{E40D07BA-4712-4272-8DAC-77F88D4822CA}" type="parTrans" cxnId="{44336041-3244-4C6B-9D44-CFDCA4A3EF1B}">
      <dgm:prSet/>
      <dgm:spPr/>
      <dgm:t>
        <a:bodyPr/>
        <a:lstStyle/>
        <a:p>
          <a:endParaRPr kumimoji="1" lang="ja-JP" altLang="en-US"/>
        </a:p>
      </dgm:t>
    </dgm:pt>
    <dgm:pt modelId="{9950D407-E66D-4D23-9A3F-B13691246991}" type="sibTrans" cxnId="{44336041-3244-4C6B-9D44-CFDCA4A3EF1B}">
      <dgm:prSet/>
      <dgm:spPr/>
      <dgm:t>
        <a:bodyPr/>
        <a:lstStyle/>
        <a:p>
          <a:endParaRPr kumimoji="1" lang="ja-JP" altLang="en-US"/>
        </a:p>
      </dgm:t>
    </dgm:pt>
    <dgm:pt modelId="{EE2ABB85-D0A0-4106-9D37-D11665633C91}" type="pres">
      <dgm:prSet presAssocID="{FF6EEE6E-B7C5-452B-8B7B-59DFA4A709D0}" presName="CompostProcess" presStyleCnt="0">
        <dgm:presLayoutVars>
          <dgm:dir/>
          <dgm:resizeHandles val="exact"/>
        </dgm:presLayoutVars>
      </dgm:prSet>
      <dgm:spPr/>
    </dgm:pt>
    <dgm:pt modelId="{D081130E-EB0B-4E1F-82FF-0BE5DEC739AF}" type="pres">
      <dgm:prSet presAssocID="{FF6EEE6E-B7C5-452B-8B7B-59DFA4A709D0}" presName="arrow" presStyleLbl="bgShp" presStyleIdx="0" presStyleCnt="1"/>
      <dgm:spPr/>
    </dgm:pt>
    <dgm:pt modelId="{3D15ABB8-9DB6-4C02-8A12-BCFA31F97914}" type="pres">
      <dgm:prSet presAssocID="{FF6EEE6E-B7C5-452B-8B7B-59DFA4A709D0}" presName="linearProcess" presStyleCnt="0"/>
      <dgm:spPr/>
    </dgm:pt>
    <dgm:pt modelId="{668178AA-09D1-44B2-951D-164724535DA5}" type="pres">
      <dgm:prSet presAssocID="{E5941415-8B13-4B2D-8A26-1462FBEEBDB7}" presName="textNode" presStyleLbl="node1" presStyleIdx="0" presStyleCnt="4" custScaleX="72942" custScaleY="99563" custLinFactX="65159" custLinFactNeighborX="100000" custLinFactNeighborY="-2700">
        <dgm:presLayoutVars>
          <dgm:bulletEnabled val="1"/>
        </dgm:presLayoutVars>
      </dgm:prSet>
      <dgm:spPr/>
    </dgm:pt>
    <dgm:pt modelId="{CD7BF643-D0DF-4ACD-A235-EDEA86F7ABFD}" type="pres">
      <dgm:prSet presAssocID="{4677CC42-61BE-4A3D-96A8-DB77CCA7FF09}" presName="sibTrans" presStyleCnt="0"/>
      <dgm:spPr/>
    </dgm:pt>
    <dgm:pt modelId="{85999C81-9BC9-45DB-B48E-CC8C40251547}" type="pres">
      <dgm:prSet presAssocID="{8859A223-BAAE-4431-B885-8CF1BE33BBE2}" presName="textNode" presStyleLbl="node1" presStyleIdx="1" presStyleCnt="4" custScaleX="67345" custScaleY="101069" custLinFactX="54725" custLinFactNeighborX="100000" custLinFactNeighborY="-2711">
        <dgm:presLayoutVars>
          <dgm:bulletEnabled val="1"/>
        </dgm:presLayoutVars>
      </dgm:prSet>
      <dgm:spPr/>
    </dgm:pt>
    <dgm:pt modelId="{EFE37792-A474-46F9-831A-6B70A1727253}" type="pres">
      <dgm:prSet presAssocID="{43AFC340-1452-445E-B02B-E342318EDCBB}" presName="sibTrans" presStyleCnt="0"/>
      <dgm:spPr/>
    </dgm:pt>
    <dgm:pt modelId="{FEDC6670-2536-448A-80E3-24232527FE0B}" type="pres">
      <dgm:prSet presAssocID="{894E09B8-9B99-4417-82CD-CB4F6179E03F}" presName="textNode" presStyleLbl="node1" presStyleIdx="2" presStyleCnt="4" custScaleX="72330" custScaleY="98142" custLinFactX="41825" custLinFactNeighborX="100000" custLinFactNeighborY="-4088">
        <dgm:presLayoutVars>
          <dgm:bulletEnabled val="1"/>
        </dgm:presLayoutVars>
      </dgm:prSet>
      <dgm:spPr/>
    </dgm:pt>
    <dgm:pt modelId="{3901216E-B37B-49F3-876A-1AB0F9EA3A37}" type="pres">
      <dgm:prSet presAssocID="{03198461-65A1-425E-A2D7-8352EC39619B}" presName="sibTrans" presStyleCnt="0"/>
      <dgm:spPr/>
    </dgm:pt>
    <dgm:pt modelId="{A9C2324B-7D32-420C-9E75-AFC886C8F28A}" type="pres">
      <dgm:prSet presAssocID="{07295068-33BA-4D6E-B8EF-E9F48D4B372E}" presName="textNode" presStyleLbl="node1" presStyleIdx="3" presStyleCnt="4" custScaleX="69777" custScaleY="100919" custLinFactX="-205143" custLinFactNeighborX="-300000" custLinFactNeighborY="-2700">
        <dgm:presLayoutVars>
          <dgm:bulletEnabled val="1"/>
        </dgm:presLayoutVars>
      </dgm:prSet>
      <dgm:spPr/>
    </dgm:pt>
  </dgm:ptLst>
  <dgm:cxnLst>
    <dgm:cxn modelId="{97136D0A-E78B-45E1-B023-130AF6E94661}" type="presOf" srcId="{FF6EEE6E-B7C5-452B-8B7B-59DFA4A709D0}" destId="{EE2ABB85-D0A0-4106-9D37-D11665633C91}" srcOrd="0" destOrd="0" presId="urn:microsoft.com/office/officeart/2005/8/layout/hProcess9"/>
    <dgm:cxn modelId="{1882B717-BDC5-4997-AA04-883892EBD84E}" srcId="{FF6EEE6E-B7C5-452B-8B7B-59DFA4A709D0}" destId="{E5941415-8B13-4B2D-8A26-1462FBEEBDB7}" srcOrd="0" destOrd="0" parTransId="{A92FE7AF-FA0C-41DA-B459-5068CBBECE97}" sibTransId="{4677CC42-61BE-4A3D-96A8-DB77CCA7FF09}"/>
    <dgm:cxn modelId="{44336041-3244-4C6B-9D44-CFDCA4A3EF1B}" srcId="{FF6EEE6E-B7C5-452B-8B7B-59DFA4A709D0}" destId="{07295068-33BA-4D6E-B8EF-E9F48D4B372E}" srcOrd="3" destOrd="0" parTransId="{E40D07BA-4712-4272-8DAC-77F88D4822CA}" sibTransId="{9950D407-E66D-4D23-9A3F-B13691246991}"/>
    <dgm:cxn modelId="{5C1ADA7C-FC09-46D4-9FE7-3D5FFF6E0AA9}" type="presOf" srcId="{07295068-33BA-4D6E-B8EF-E9F48D4B372E}" destId="{A9C2324B-7D32-420C-9E75-AFC886C8F28A}" srcOrd="0" destOrd="0" presId="urn:microsoft.com/office/officeart/2005/8/layout/hProcess9"/>
    <dgm:cxn modelId="{0E0482AA-EA14-499B-A8A7-20B92C80518C}" srcId="{FF6EEE6E-B7C5-452B-8B7B-59DFA4A709D0}" destId="{894E09B8-9B99-4417-82CD-CB4F6179E03F}" srcOrd="2" destOrd="0" parTransId="{1DBB6926-150C-4587-9CB3-E3227B072D33}" sibTransId="{03198461-65A1-425E-A2D7-8352EC39619B}"/>
    <dgm:cxn modelId="{C4E283B2-8786-4071-A44D-0F011E472665}" type="presOf" srcId="{E5941415-8B13-4B2D-8A26-1462FBEEBDB7}" destId="{668178AA-09D1-44B2-951D-164724535DA5}" srcOrd="0" destOrd="0" presId="urn:microsoft.com/office/officeart/2005/8/layout/hProcess9"/>
    <dgm:cxn modelId="{69AD6ABB-9EDB-489D-8C74-F22BC909A16A}" type="presOf" srcId="{8859A223-BAAE-4431-B885-8CF1BE33BBE2}" destId="{85999C81-9BC9-45DB-B48E-CC8C40251547}" srcOrd="0" destOrd="0" presId="urn:microsoft.com/office/officeart/2005/8/layout/hProcess9"/>
    <dgm:cxn modelId="{82990EE0-53A1-40E1-9E59-4E48B0BC95D5}" type="presOf" srcId="{894E09B8-9B99-4417-82CD-CB4F6179E03F}" destId="{FEDC6670-2536-448A-80E3-24232527FE0B}" srcOrd="0" destOrd="0" presId="urn:microsoft.com/office/officeart/2005/8/layout/hProcess9"/>
    <dgm:cxn modelId="{B1A9E8FC-9A84-40C2-B7FD-080B0589B144}" srcId="{FF6EEE6E-B7C5-452B-8B7B-59DFA4A709D0}" destId="{8859A223-BAAE-4431-B885-8CF1BE33BBE2}" srcOrd="1" destOrd="0" parTransId="{23FA1513-9416-4652-B1AE-9CC537A04B1A}" sibTransId="{43AFC340-1452-445E-B02B-E342318EDCBB}"/>
    <dgm:cxn modelId="{6E33EB24-5D8F-4FEF-8DA3-669D41B43B06}" type="presParOf" srcId="{EE2ABB85-D0A0-4106-9D37-D11665633C91}" destId="{D081130E-EB0B-4E1F-82FF-0BE5DEC739AF}" srcOrd="0" destOrd="0" presId="urn:microsoft.com/office/officeart/2005/8/layout/hProcess9"/>
    <dgm:cxn modelId="{CB4E7E6E-D2A9-42C2-972F-D02D4996AEE2}" type="presParOf" srcId="{EE2ABB85-D0A0-4106-9D37-D11665633C91}" destId="{3D15ABB8-9DB6-4C02-8A12-BCFA31F97914}" srcOrd="1" destOrd="0" presId="urn:microsoft.com/office/officeart/2005/8/layout/hProcess9"/>
    <dgm:cxn modelId="{2376AFE7-A4EC-468F-B228-587F89A384FD}" type="presParOf" srcId="{3D15ABB8-9DB6-4C02-8A12-BCFA31F97914}" destId="{668178AA-09D1-44B2-951D-164724535DA5}" srcOrd="0" destOrd="0" presId="urn:microsoft.com/office/officeart/2005/8/layout/hProcess9"/>
    <dgm:cxn modelId="{D97CE106-BD90-440A-B0FC-778D3016B013}" type="presParOf" srcId="{3D15ABB8-9DB6-4C02-8A12-BCFA31F97914}" destId="{CD7BF643-D0DF-4ACD-A235-EDEA86F7ABFD}" srcOrd="1" destOrd="0" presId="urn:microsoft.com/office/officeart/2005/8/layout/hProcess9"/>
    <dgm:cxn modelId="{1DC1F88D-E03C-4DB2-85D9-8ADD61C9CA7B}" type="presParOf" srcId="{3D15ABB8-9DB6-4C02-8A12-BCFA31F97914}" destId="{85999C81-9BC9-45DB-B48E-CC8C40251547}" srcOrd="2" destOrd="0" presId="urn:microsoft.com/office/officeart/2005/8/layout/hProcess9"/>
    <dgm:cxn modelId="{82A615BD-3B44-4330-B2EE-472A050A40B1}" type="presParOf" srcId="{3D15ABB8-9DB6-4C02-8A12-BCFA31F97914}" destId="{EFE37792-A474-46F9-831A-6B70A1727253}" srcOrd="3" destOrd="0" presId="urn:microsoft.com/office/officeart/2005/8/layout/hProcess9"/>
    <dgm:cxn modelId="{2FEB3AA4-C2A7-4FE4-ADD1-7111F0AF1E6D}" type="presParOf" srcId="{3D15ABB8-9DB6-4C02-8A12-BCFA31F97914}" destId="{FEDC6670-2536-448A-80E3-24232527FE0B}" srcOrd="4" destOrd="0" presId="urn:microsoft.com/office/officeart/2005/8/layout/hProcess9"/>
    <dgm:cxn modelId="{B8B7A4C1-68B1-402B-9ABC-677B5C220B90}" type="presParOf" srcId="{3D15ABB8-9DB6-4C02-8A12-BCFA31F97914}" destId="{3901216E-B37B-49F3-876A-1AB0F9EA3A37}" srcOrd="5" destOrd="0" presId="urn:microsoft.com/office/officeart/2005/8/layout/hProcess9"/>
    <dgm:cxn modelId="{9E2FEB39-65BB-49E4-8FF9-696E88344F5E}" type="presParOf" srcId="{3D15ABB8-9DB6-4C02-8A12-BCFA31F97914}" destId="{A9C2324B-7D32-420C-9E75-AFC886C8F28A}" srcOrd="6"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EA8CD62-2910-4409-8593-47DF42C726E7}" type="doc">
      <dgm:prSet loTypeId="urn:microsoft.com/office/officeart/2005/8/layout/hProcess9" loCatId="process" qsTypeId="urn:microsoft.com/office/officeart/2005/8/quickstyle/simple1" qsCatId="simple" csTypeId="urn:microsoft.com/office/officeart/2005/8/colors/accent1_2" csCatId="accent1" phldr="1"/>
      <dgm:spPr/>
    </dgm:pt>
    <dgm:pt modelId="{1A08ECFE-A6C8-496F-81FA-9F76FEF95A20}">
      <dgm:prSet phldrT="[テキスト]"/>
      <dgm:spPr/>
      <dgm:t>
        <a:bodyPr/>
        <a:lstStyle/>
        <a:p>
          <a:r>
            <a:rPr kumimoji="1" lang="ja-JP" altLang="en-US" dirty="0">
              <a:latin typeface="ＭＳ 明朝" panose="02020609040205080304" pitchFamily="17" charset="-128"/>
              <a:ea typeface="ＭＳ 明朝" panose="02020609040205080304" pitchFamily="17" charset="-128"/>
            </a:rPr>
            <a:t>データ取得</a:t>
          </a:r>
        </a:p>
      </dgm:t>
    </dgm:pt>
    <dgm:pt modelId="{342A6F09-E04B-45D2-AE18-3F524E1C990E}" type="parTrans" cxnId="{4ADD6586-1C26-4B02-9FDE-13C81BF0BE99}">
      <dgm:prSet/>
      <dgm:spPr/>
      <dgm:t>
        <a:bodyPr/>
        <a:lstStyle/>
        <a:p>
          <a:endParaRPr kumimoji="1" lang="ja-JP" altLang="en-US"/>
        </a:p>
      </dgm:t>
    </dgm:pt>
    <dgm:pt modelId="{84264BDA-ECB7-4EE0-8CAC-50937F9A1636}" type="sibTrans" cxnId="{4ADD6586-1C26-4B02-9FDE-13C81BF0BE99}">
      <dgm:prSet/>
      <dgm:spPr/>
      <dgm:t>
        <a:bodyPr/>
        <a:lstStyle/>
        <a:p>
          <a:endParaRPr kumimoji="1" lang="ja-JP" altLang="en-US"/>
        </a:p>
      </dgm:t>
    </dgm:pt>
    <dgm:pt modelId="{FA67262B-6431-4ADD-8153-218FF62A1193}">
      <dgm:prSet phldrT="[テキスト]"/>
      <dgm:spPr/>
      <dgm:t>
        <a:bodyPr/>
        <a:lstStyle/>
        <a:p>
          <a:r>
            <a:rPr kumimoji="1" lang="ja-JP" altLang="en-US" dirty="0">
              <a:latin typeface="ＭＳ 明朝" panose="02020609040205080304" pitchFamily="17" charset="-128"/>
              <a:ea typeface="ＭＳ 明朝" panose="02020609040205080304" pitchFamily="17" charset="-128"/>
            </a:rPr>
            <a:t>フォロー業務</a:t>
          </a:r>
        </a:p>
      </dgm:t>
    </dgm:pt>
    <dgm:pt modelId="{FD5F9E47-14E9-4886-B861-6315E9F270D1}" type="parTrans" cxnId="{E8B2E914-3E7B-4D75-B21D-BA9E75A60CC5}">
      <dgm:prSet/>
      <dgm:spPr/>
      <dgm:t>
        <a:bodyPr/>
        <a:lstStyle/>
        <a:p>
          <a:endParaRPr kumimoji="1" lang="ja-JP" altLang="en-US"/>
        </a:p>
      </dgm:t>
    </dgm:pt>
    <dgm:pt modelId="{1B7B1D70-A618-4BF5-A77F-FB4BE7EE3C14}" type="sibTrans" cxnId="{E8B2E914-3E7B-4D75-B21D-BA9E75A60CC5}">
      <dgm:prSet/>
      <dgm:spPr/>
      <dgm:t>
        <a:bodyPr/>
        <a:lstStyle/>
        <a:p>
          <a:endParaRPr kumimoji="1" lang="ja-JP" altLang="en-US"/>
        </a:p>
      </dgm:t>
    </dgm:pt>
    <dgm:pt modelId="{520656ED-A6EF-428F-A839-DE45B61BFF7D}">
      <dgm:prSet phldrT="[テキスト]"/>
      <dgm:spPr/>
      <dgm:t>
        <a:bodyPr/>
        <a:lstStyle/>
        <a:p>
          <a:r>
            <a:rPr kumimoji="1" lang="ja-JP" altLang="en-US" dirty="0">
              <a:latin typeface="ＭＳ 明朝" panose="02020609040205080304" pitchFamily="17" charset="-128"/>
              <a:ea typeface="ＭＳ 明朝" panose="02020609040205080304" pitchFamily="17" charset="-128"/>
            </a:rPr>
            <a:t>服薬忘れ防止</a:t>
          </a:r>
        </a:p>
      </dgm:t>
    </dgm:pt>
    <dgm:pt modelId="{8720C76B-196E-4299-80AD-BDB9AC9899D6}" type="parTrans" cxnId="{276C7C94-35D9-4391-9114-9ADF452B7BDB}">
      <dgm:prSet/>
      <dgm:spPr/>
      <dgm:t>
        <a:bodyPr/>
        <a:lstStyle/>
        <a:p>
          <a:endParaRPr kumimoji="1" lang="ja-JP" altLang="en-US"/>
        </a:p>
      </dgm:t>
    </dgm:pt>
    <dgm:pt modelId="{734F866F-FB4B-4902-AAAE-F3B3A0037070}" type="sibTrans" cxnId="{276C7C94-35D9-4391-9114-9ADF452B7BDB}">
      <dgm:prSet/>
      <dgm:spPr/>
      <dgm:t>
        <a:bodyPr/>
        <a:lstStyle/>
        <a:p>
          <a:endParaRPr kumimoji="1" lang="ja-JP" altLang="en-US"/>
        </a:p>
      </dgm:t>
    </dgm:pt>
    <dgm:pt modelId="{65DB348B-4529-42CA-B462-C7BC7AD82086}" type="pres">
      <dgm:prSet presAssocID="{EEA8CD62-2910-4409-8593-47DF42C726E7}" presName="CompostProcess" presStyleCnt="0">
        <dgm:presLayoutVars>
          <dgm:dir/>
          <dgm:resizeHandles val="exact"/>
        </dgm:presLayoutVars>
      </dgm:prSet>
      <dgm:spPr/>
    </dgm:pt>
    <dgm:pt modelId="{E4EA6468-B182-47BE-9438-B0A99963D866}" type="pres">
      <dgm:prSet presAssocID="{EEA8CD62-2910-4409-8593-47DF42C726E7}" presName="arrow" presStyleLbl="bgShp" presStyleIdx="0" presStyleCnt="1"/>
      <dgm:spPr/>
    </dgm:pt>
    <dgm:pt modelId="{9284C2E0-7102-4BB4-8C83-676833AE0291}" type="pres">
      <dgm:prSet presAssocID="{EEA8CD62-2910-4409-8593-47DF42C726E7}" presName="linearProcess" presStyleCnt="0"/>
      <dgm:spPr/>
    </dgm:pt>
    <dgm:pt modelId="{25834152-266D-45AD-8459-02141FC8E622}" type="pres">
      <dgm:prSet presAssocID="{1A08ECFE-A6C8-496F-81FA-9F76FEF95A20}" presName="textNode" presStyleLbl="node1" presStyleIdx="0" presStyleCnt="3">
        <dgm:presLayoutVars>
          <dgm:bulletEnabled val="1"/>
        </dgm:presLayoutVars>
      </dgm:prSet>
      <dgm:spPr/>
    </dgm:pt>
    <dgm:pt modelId="{B00A65C4-A957-4809-A32A-E9D17A4AE787}" type="pres">
      <dgm:prSet presAssocID="{84264BDA-ECB7-4EE0-8CAC-50937F9A1636}" presName="sibTrans" presStyleCnt="0"/>
      <dgm:spPr/>
    </dgm:pt>
    <dgm:pt modelId="{3FCAB6D7-F972-4916-B5FB-5493CCD62179}" type="pres">
      <dgm:prSet presAssocID="{FA67262B-6431-4ADD-8153-218FF62A1193}" presName="textNode" presStyleLbl="node1" presStyleIdx="1" presStyleCnt="3">
        <dgm:presLayoutVars>
          <dgm:bulletEnabled val="1"/>
        </dgm:presLayoutVars>
      </dgm:prSet>
      <dgm:spPr/>
    </dgm:pt>
    <dgm:pt modelId="{8490E2E6-2833-435A-A424-96505AC9B497}" type="pres">
      <dgm:prSet presAssocID="{1B7B1D70-A618-4BF5-A77F-FB4BE7EE3C14}" presName="sibTrans" presStyleCnt="0"/>
      <dgm:spPr/>
    </dgm:pt>
    <dgm:pt modelId="{5CE36933-8755-47AB-8C60-A9546DAFC68F}" type="pres">
      <dgm:prSet presAssocID="{520656ED-A6EF-428F-A839-DE45B61BFF7D}" presName="textNode" presStyleLbl="node1" presStyleIdx="2" presStyleCnt="3">
        <dgm:presLayoutVars>
          <dgm:bulletEnabled val="1"/>
        </dgm:presLayoutVars>
      </dgm:prSet>
      <dgm:spPr/>
    </dgm:pt>
  </dgm:ptLst>
  <dgm:cxnLst>
    <dgm:cxn modelId="{C173B408-A573-4B59-9970-0F0ABCD583D9}" type="presOf" srcId="{1A08ECFE-A6C8-496F-81FA-9F76FEF95A20}" destId="{25834152-266D-45AD-8459-02141FC8E622}" srcOrd="0" destOrd="0" presId="urn:microsoft.com/office/officeart/2005/8/layout/hProcess9"/>
    <dgm:cxn modelId="{E8B2E914-3E7B-4D75-B21D-BA9E75A60CC5}" srcId="{EEA8CD62-2910-4409-8593-47DF42C726E7}" destId="{FA67262B-6431-4ADD-8153-218FF62A1193}" srcOrd="1" destOrd="0" parTransId="{FD5F9E47-14E9-4886-B861-6315E9F270D1}" sibTransId="{1B7B1D70-A618-4BF5-A77F-FB4BE7EE3C14}"/>
    <dgm:cxn modelId="{4ADD6586-1C26-4B02-9FDE-13C81BF0BE99}" srcId="{EEA8CD62-2910-4409-8593-47DF42C726E7}" destId="{1A08ECFE-A6C8-496F-81FA-9F76FEF95A20}" srcOrd="0" destOrd="0" parTransId="{342A6F09-E04B-45D2-AE18-3F524E1C990E}" sibTransId="{84264BDA-ECB7-4EE0-8CAC-50937F9A1636}"/>
    <dgm:cxn modelId="{276C7C94-35D9-4391-9114-9ADF452B7BDB}" srcId="{EEA8CD62-2910-4409-8593-47DF42C726E7}" destId="{520656ED-A6EF-428F-A839-DE45B61BFF7D}" srcOrd="2" destOrd="0" parTransId="{8720C76B-196E-4299-80AD-BDB9AC9899D6}" sibTransId="{734F866F-FB4B-4902-AAAE-F3B3A0037070}"/>
    <dgm:cxn modelId="{4953A0B4-FE20-4B1F-BBEA-6885DD645C55}" type="presOf" srcId="{FA67262B-6431-4ADD-8153-218FF62A1193}" destId="{3FCAB6D7-F972-4916-B5FB-5493CCD62179}" srcOrd="0" destOrd="0" presId="urn:microsoft.com/office/officeart/2005/8/layout/hProcess9"/>
    <dgm:cxn modelId="{A7E7C0D7-C4BF-4BA2-BD56-FA650880ED21}" type="presOf" srcId="{EEA8CD62-2910-4409-8593-47DF42C726E7}" destId="{65DB348B-4529-42CA-B462-C7BC7AD82086}" srcOrd="0" destOrd="0" presId="urn:microsoft.com/office/officeart/2005/8/layout/hProcess9"/>
    <dgm:cxn modelId="{03B860EC-75C0-4371-8462-D434C42A5660}" type="presOf" srcId="{520656ED-A6EF-428F-A839-DE45B61BFF7D}" destId="{5CE36933-8755-47AB-8C60-A9546DAFC68F}" srcOrd="0" destOrd="0" presId="urn:microsoft.com/office/officeart/2005/8/layout/hProcess9"/>
    <dgm:cxn modelId="{308C8973-4A4D-4F2B-A6FB-A76C05FF53F9}" type="presParOf" srcId="{65DB348B-4529-42CA-B462-C7BC7AD82086}" destId="{E4EA6468-B182-47BE-9438-B0A99963D866}" srcOrd="0" destOrd="0" presId="urn:microsoft.com/office/officeart/2005/8/layout/hProcess9"/>
    <dgm:cxn modelId="{7B74D21F-497E-4BC2-94EE-F68AF5736C0D}" type="presParOf" srcId="{65DB348B-4529-42CA-B462-C7BC7AD82086}" destId="{9284C2E0-7102-4BB4-8C83-676833AE0291}" srcOrd="1" destOrd="0" presId="urn:microsoft.com/office/officeart/2005/8/layout/hProcess9"/>
    <dgm:cxn modelId="{3DFF1056-536A-4A23-B9BC-BB77B00CA64D}" type="presParOf" srcId="{9284C2E0-7102-4BB4-8C83-676833AE0291}" destId="{25834152-266D-45AD-8459-02141FC8E622}" srcOrd="0" destOrd="0" presId="urn:microsoft.com/office/officeart/2005/8/layout/hProcess9"/>
    <dgm:cxn modelId="{92030183-0B77-490D-B591-6C1BD207A4DC}" type="presParOf" srcId="{9284C2E0-7102-4BB4-8C83-676833AE0291}" destId="{B00A65C4-A957-4809-A32A-E9D17A4AE787}" srcOrd="1" destOrd="0" presId="urn:microsoft.com/office/officeart/2005/8/layout/hProcess9"/>
    <dgm:cxn modelId="{B44672DB-BBCC-4413-8358-D236722F4F46}" type="presParOf" srcId="{9284C2E0-7102-4BB4-8C83-676833AE0291}" destId="{3FCAB6D7-F972-4916-B5FB-5493CCD62179}" srcOrd="2" destOrd="0" presId="urn:microsoft.com/office/officeart/2005/8/layout/hProcess9"/>
    <dgm:cxn modelId="{92785303-8CAB-42D7-9A3C-5B2C626DA71E}" type="presParOf" srcId="{9284C2E0-7102-4BB4-8C83-676833AE0291}" destId="{8490E2E6-2833-435A-A424-96505AC9B497}" srcOrd="3" destOrd="0" presId="urn:microsoft.com/office/officeart/2005/8/layout/hProcess9"/>
    <dgm:cxn modelId="{0DEA4C7A-1458-4A58-889C-624D63FEC69D}" type="presParOf" srcId="{9284C2E0-7102-4BB4-8C83-676833AE0291}" destId="{5CE36933-8755-47AB-8C60-A9546DAFC68F}" srcOrd="4"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DCDDE08-7510-46A8-B326-9F76841BE586}" type="doc">
      <dgm:prSet loTypeId="urn:microsoft.com/office/officeart/2005/8/layout/hProcess9" loCatId="process" qsTypeId="urn:microsoft.com/office/officeart/2005/8/quickstyle/simple1" qsCatId="simple" csTypeId="urn:microsoft.com/office/officeart/2005/8/colors/accent1_2" csCatId="accent1" phldr="1"/>
      <dgm:spPr/>
    </dgm:pt>
    <dgm:pt modelId="{68BF4AD6-D63B-4C37-BF89-6AC6705ADE05}">
      <dgm:prSet phldrT="[テキスト]" custT="1"/>
      <dgm:spPr/>
      <dgm:t>
        <a:bodyPr/>
        <a:lstStyle/>
        <a:p>
          <a:r>
            <a:rPr kumimoji="1" lang="ja-JP" altLang="en-US" sz="3400" dirty="0">
              <a:latin typeface="ＭＳ 明朝" panose="02020609040205080304" pitchFamily="17" charset="-128"/>
              <a:ea typeface="ＭＳ 明朝" panose="02020609040205080304" pitchFamily="17" charset="-128"/>
            </a:rPr>
            <a:t>アプリ</a:t>
          </a:r>
        </a:p>
      </dgm:t>
    </dgm:pt>
    <dgm:pt modelId="{A5EAC398-5E39-4D10-AF35-E8BD871A2D6A}" type="parTrans" cxnId="{ACFDAA53-0275-4C86-8E0F-180EBD62B0F3}">
      <dgm:prSet/>
      <dgm:spPr/>
      <dgm:t>
        <a:bodyPr/>
        <a:lstStyle/>
        <a:p>
          <a:endParaRPr kumimoji="1" lang="ja-JP" altLang="en-US"/>
        </a:p>
      </dgm:t>
    </dgm:pt>
    <dgm:pt modelId="{3067646F-E0E8-447D-A6DF-D878C2DE4A21}" type="sibTrans" cxnId="{ACFDAA53-0275-4C86-8E0F-180EBD62B0F3}">
      <dgm:prSet/>
      <dgm:spPr/>
      <dgm:t>
        <a:bodyPr/>
        <a:lstStyle/>
        <a:p>
          <a:endParaRPr kumimoji="1" lang="ja-JP" altLang="en-US"/>
        </a:p>
      </dgm:t>
    </dgm:pt>
    <dgm:pt modelId="{356B40F7-CF19-4226-8033-39E5B96AABC7}">
      <dgm:prSet phldrT="[テキスト]" custT="1"/>
      <dgm:spPr/>
      <dgm:t>
        <a:bodyPr/>
        <a:lstStyle/>
        <a:p>
          <a:r>
            <a:rPr kumimoji="1" lang="ja-JP" altLang="en-US" sz="3400" dirty="0">
              <a:latin typeface="ＭＳ 明朝" panose="02020609040205080304" pitchFamily="17" charset="-128"/>
              <a:ea typeface="ＭＳ 明朝" panose="02020609040205080304" pitchFamily="17" charset="-128"/>
            </a:rPr>
            <a:t>認証</a:t>
          </a:r>
        </a:p>
      </dgm:t>
    </dgm:pt>
    <dgm:pt modelId="{ADE99495-B469-4FD2-9F7F-5CB8F60DC0D2}" type="parTrans" cxnId="{6664FB75-C1E3-4B47-B9CC-834A1CD362F9}">
      <dgm:prSet/>
      <dgm:spPr/>
      <dgm:t>
        <a:bodyPr/>
        <a:lstStyle/>
        <a:p>
          <a:endParaRPr kumimoji="1" lang="ja-JP" altLang="en-US"/>
        </a:p>
      </dgm:t>
    </dgm:pt>
    <dgm:pt modelId="{F3985BDD-FC17-42EA-BEDA-994097B33208}" type="sibTrans" cxnId="{6664FB75-C1E3-4B47-B9CC-834A1CD362F9}">
      <dgm:prSet/>
      <dgm:spPr/>
      <dgm:t>
        <a:bodyPr/>
        <a:lstStyle/>
        <a:p>
          <a:endParaRPr kumimoji="1" lang="ja-JP" altLang="en-US"/>
        </a:p>
      </dgm:t>
    </dgm:pt>
    <dgm:pt modelId="{08AB488D-28C5-4010-A2EB-BC6C6B68B33A}">
      <dgm:prSet phldrT="[テキスト]" custT="1"/>
      <dgm:spPr/>
      <dgm:t>
        <a:bodyPr/>
        <a:lstStyle/>
        <a:p>
          <a:r>
            <a:rPr kumimoji="1" lang="ja-JP" altLang="en-US" sz="3400" dirty="0">
              <a:latin typeface="ＭＳ 明朝" panose="02020609040205080304" pitchFamily="17" charset="-128"/>
              <a:ea typeface="ＭＳ 明朝" panose="02020609040205080304" pitchFamily="17" charset="-128"/>
            </a:rPr>
            <a:t>連携</a:t>
          </a:r>
        </a:p>
      </dgm:t>
    </dgm:pt>
    <dgm:pt modelId="{0BC13A2E-173B-4A39-A5E9-AFF12F3D6C31}" type="parTrans" cxnId="{8553C27A-9FB3-4112-AB1E-A0AACEDC7870}">
      <dgm:prSet/>
      <dgm:spPr/>
      <dgm:t>
        <a:bodyPr/>
        <a:lstStyle/>
        <a:p>
          <a:endParaRPr kumimoji="1" lang="ja-JP" altLang="en-US"/>
        </a:p>
      </dgm:t>
    </dgm:pt>
    <dgm:pt modelId="{CB3EC337-C208-4308-B6F8-118F2B3A60AC}" type="sibTrans" cxnId="{8553C27A-9FB3-4112-AB1E-A0AACEDC7870}">
      <dgm:prSet/>
      <dgm:spPr/>
      <dgm:t>
        <a:bodyPr/>
        <a:lstStyle/>
        <a:p>
          <a:endParaRPr kumimoji="1" lang="ja-JP" altLang="en-US"/>
        </a:p>
      </dgm:t>
    </dgm:pt>
    <dgm:pt modelId="{E1530EEE-D48F-49E5-BF72-F8073032C49B}" type="pres">
      <dgm:prSet presAssocID="{0DCDDE08-7510-46A8-B326-9F76841BE586}" presName="CompostProcess" presStyleCnt="0">
        <dgm:presLayoutVars>
          <dgm:dir/>
          <dgm:resizeHandles val="exact"/>
        </dgm:presLayoutVars>
      </dgm:prSet>
      <dgm:spPr/>
    </dgm:pt>
    <dgm:pt modelId="{3B792E7F-34DD-4C1B-A466-5DB7B85A99F9}" type="pres">
      <dgm:prSet presAssocID="{0DCDDE08-7510-46A8-B326-9F76841BE586}" presName="arrow" presStyleLbl="bgShp" presStyleIdx="0" presStyleCnt="1"/>
      <dgm:spPr/>
    </dgm:pt>
    <dgm:pt modelId="{B5196CD0-0096-4EDC-BE9A-63247005CA20}" type="pres">
      <dgm:prSet presAssocID="{0DCDDE08-7510-46A8-B326-9F76841BE586}" presName="linearProcess" presStyleCnt="0"/>
      <dgm:spPr/>
    </dgm:pt>
    <dgm:pt modelId="{EDE00E83-01E6-4242-8B79-739AB104507E}" type="pres">
      <dgm:prSet presAssocID="{68BF4AD6-D63B-4C37-BF89-6AC6705ADE05}" presName="textNode" presStyleLbl="node1" presStyleIdx="0" presStyleCnt="3" custLinFactNeighborX="4443" custLinFactNeighborY="683">
        <dgm:presLayoutVars>
          <dgm:bulletEnabled val="1"/>
        </dgm:presLayoutVars>
      </dgm:prSet>
      <dgm:spPr/>
    </dgm:pt>
    <dgm:pt modelId="{28970FF8-A945-4B2B-A13D-9A808D624364}" type="pres">
      <dgm:prSet presAssocID="{3067646F-E0E8-447D-A6DF-D878C2DE4A21}" presName="sibTrans" presStyleCnt="0"/>
      <dgm:spPr/>
    </dgm:pt>
    <dgm:pt modelId="{1BCFB106-682B-4952-ABFC-A98BEBC44654}" type="pres">
      <dgm:prSet presAssocID="{356B40F7-CF19-4226-8033-39E5B96AABC7}" presName="textNode" presStyleLbl="node1" presStyleIdx="1" presStyleCnt="3">
        <dgm:presLayoutVars>
          <dgm:bulletEnabled val="1"/>
        </dgm:presLayoutVars>
      </dgm:prSet>
      <dgm:spPr/>
    </dgm:pt>
    <dgm:pt modelId="{2F6A1D3F-D041-4199-95ED-10EBEED1857B}" type="pres">
      <dgm:prSet presAssocID="{F3985BDD-FC17-42EA-BEDA-994097B33208}" presName="sibTrans" presStyleCnt="0"/>
      <dgm:spPr/>
    </dgm:pt>
    <dgm:pt modelId="{B85496F0-7E57-4A7C-938A-0F29007F428C}" type="pres">
      <dgm:prSet presAssocID="{08AB488D-28C5-4010-A2EB-BC6C6B68B33A}" presName="textNode" presStyleLbl="node1" presStyleIdx="2" presStyleCnt="3">
        <dgm:presLayoutVars>
          <dgm:bulletEnabled val="1"/>
        </dgm:presLayoutVars>
      </dgm:prSet>
      <dgm:spPr/>
    </dgm:pt>
  </dgm:ptLst>
  <dgm:cxnLst>
    <dgm:cxn modelId="{D758EB3C-C718-4BE6-8BE5-64360BFCA68D}" type="presOf" srcId="{356B40F7-CF19-4226-8033-39E5B96AABC7}" destId="{1BCFB106-682B-4952-ABFC-A98BEBC44654}" srcOrd="0" destOrd="0" presId="urn:microsoft.com/office/officeart/2005/8/layout/hProcess9"/>
    <dgm:cxn modelId="{51373F52-B3BC-4AE8-8E0A-CE5C52805049}" type="presOf" srcId="{08AB488D-28C5-4010-A2EB-BC6C6B68B33A}" destId="{B85496F0-7E57-4A7C-938A-0F29007F428C}" srcOrd="0" destOrd="0" presId="urn:microsoft.com/office/officeart/2005/8/layout/hProcess9"/>
    <dgm:cxn modelId="{ACFDAA53-0275-4C86-8E0F-180EBD62B0F3}" srcId="{0DCDDE08-7510-46A8-B326-9F76841BE586}" destId="{68BF4AD6-D63B-4C37-BF89-6AC6705ADE05}" srcOrd="0" destOrd="0" parTransId="{A5EAC398-5E39-4D10-AF35-E8BD871A2D6A}" sibTransId="{3067646F-E0E8-447D-A6DF-D878C2DE4A21}"/>
    <dgm:cxn modelId="{26117F74-7C6B-4347-A411-0F1EDE20A40B}" type="presOf" srcId="{0DCDDE08-7510-46A8-B326-9F76841BE586}" destId="{E1530EEE-D48F-49E5-BF72-F8073032C49B}" srcOrd="0" destOrd="0" presId="urn:microsoft.com/office/officeart/2005/8/layout/hProcess9"/>
    <dgm:cxn modelId="{6664FB75-C1E3-4B47-B9CC-834A1CD362F9}" srcId="{0DCDDE08-7510-46A8-B326-9F76841BE586}" destId="{356B40F7-CF19-4226-8033-39E5B96AABC7}" srcOrd="1" destOrd="0" parTransId="{ADE99495-B469-4FD2-9F7F-5CB8F60DC0D2}" sibTransId="{F3985BDD-FC17-42EA-BEDA-994097B33208}"/>
    <dgm:cxn modelId="{8553C27A-9FB3-4112-AB1E-A0AACEDC7870}" srcId="{0DCDDE08-7510-46A8-B326-9F76841BE586}" destId="{08AB488D-28C5-4010-A2EB-BC6C6B68B33A}" srcOrd="2" destOrd="0" parTransId="{0BC13A2E-173B-4A39-A5E9-AFF12F3D6C31}" sibTransId="{CB3EC337-C208-4308-B6F8-118F2B3A60AC}"/>
    <dgm:cxn modelId="{25D715D0-E1B0-4790-B643-03E7B0C0DB45}" type="presOf" srcId="{68BF4AD6-D63B-4C37-BF89-6AC6705ADE05}" destId="{EDE00E83-01E6-4242-8B79-739AB104507E}" srcOrd="0" destOrd="0" presId="urn:microsoft.com/office/officeart/2005/8/layout/hProcess9"/>
    <dgm:cxn modelId="{C04ABF9C-2FF3-4AAD-A233-C7BC44BCE80E}" type="presParOf" srcId="{E1530EEE-D48F-49E5-BF72-F8073032C49B}" destId="{3B792E7F-34DD-4C1B-A466-5DB7B85A99F9}" srcOrd="0" destOrd="0" presId="urn:microsoft.com/office/officeart/2005/8/layout/hProcess9"/>
    <dgm:cxn modelId="{5B3908D6-5610-484D-AFE9-49A10BD7DD46}" type="presParOf" srcId="{E1530EEE-D48F-49E5-BF72-F8073032C49B}" destId="{B5196CD0-0096-4EDC-BE9A-63247005CA20}" srcOrd="1" destOrd="0" presId="urn:microsoft.com/office/officeart/2005/8/layout/hProcess9"/>
    <dgm:cxn modelId="{6C03B8DE-9176-4ED9-8EA6-0E8FE80A1E52}" type="presParOf" srcId="{B5196CD0-0096-4EDC-BE9A-63247005CA20}" destId="{EDE00E83-01E6-4242-8B79-739AB104507E}" srcOrd="0" destOrd="0" presId="urn:microsoft.com/office/officeart/2005/8/layout/hProcess9"/>
    <dgm:cxn modelId="{413AD331-569B-4305-9352-9A58CCF889C9}" type="presParOf" srcId="{B5196CD0-0096-4EDC-BE9A-63247005CA20}" destId="{28970FF8-A945-4B2B-A13D-9A808D624364}" srcOrd="1" destOrd="0" presId="urn:microsoft.com/office/officeart/2005/8/layout/hProcess9"/>
    <dgm:cxn modelId="{67B9AAFF-8ED0-423B-8725-CBF78E664388}" type="presParOf" srcId="{B5196CD0-0096-4EDC-BE9A-63247005CA20}" destId="{1BCFB106-682B-4952-ABFC-A98BEBC44654}" srcOrd="2" destOrd="0" presId="urn:microsoft.com/office/officeart/2005/8/layout/hProcess9"/>
    <dgm:cxn modelId="{922FCC4B-9E95-449C-BFA6-0AE108C2F3DD}" type="presParOf" srcId="{B5196CD0-0096-4EDC-BE9A-63247005CA20}" destId="{2F6A1D3F-D041-4199-95ED-10EBEED1857B}" srcOrd="3" destOrd="0" presId="urn:microsoft.com/office/officeart/2005/8/layout/hProcess9"/>
    <dgm:cxn modelId="{82AC9DCA-B777-45FE-AB9A-C0B4CC14F83E}" type="presParOf" srcId="{B5196CD0-0096-4EDC-BE9A-63247005CA20}" destId="{B85496F0-7E57-4A7C-938A-0F29007F428C}" srcOrd="4"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81130E-EB0B-4E1F-82FF-0BE5DEC739AF}">
      <dsp:nvSpPr>
        <dsp:cNvPr id="0" name=""/>
        <dsp:cNvSpPr/>
      </dsp:nvSpPr>
      <dsp:spPr>
        <a:xfrm>
          <a:off x="756291" y="0"/>
          <a:ext cx="8571309" cy="3477289"/>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68178AA-09D1-44B2-951D-164724535DA5}">
      <dsp:nvSpPr>
        <dsp:cNvPr id="0" name=""/>
        <dsp:cNvSpPr/>
      </dsp:nvSpPr>
      <dsp:spPr>
        <a:xfrm>
          <a:off x="2489572" y="1008671"/>
          <a:ext cx="2206617" cy="1384837"/>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kumimoji="1" lang="ja-JP" altLang="en-US" sz="3400" kern="1200" dirty="0">
              <a:latin typeface="ＭＳ 明朝" panose="02020609040205080304" pitchFamily="17" charset="-128"/>
              <a:ea typeface="ＭＳ 明朝" panose="02020609040205080304" pitchFamily="17" charset="-128"/>
            </a:rPr>
            <a:t>患者</a:t>
          </a:r>
          <a:r>
            <a:rPr kumimoji="1" lang="ja-JP" altLang="en-US" sz="4600" kern="1200" dirty="0"/>
            <a:t>　</a:t>
          </a:r>
        </a:p>
      </dsp:txBody>
      <dsp:txXfrm>
        <a:off x="2557174" y="1076273"/>
        <a:ext cx="2071413" cy="1249633"/>
      </dsp:txXfrm>
    </dsp:sp>
    <dsp:sp modelId="{85999C81-9BC9-45DB-B48E-CC8C40251547}">
      <dsp:nvSpPr>
        <dsp:cNvPr id="0" name=""/>
        <dsp:cNvSpPr/>
      </dsp:nvSpPr>
      <dsp:spPr>
        <a:xfrm>
          <a:off x="4884738" y="998044"/>
          <a:ext cx="2037299" cy="1405784"/>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kumimoji="1" lang="en-US" altLang="ja-JP" sz="3400" kern="1200" dirty="0">
              <a:latin typeface="ＭＳ 明朝" panose="02020609040205080304" pitchFamily="17" charset="-128"/>
              <a:ea typeface="ＭＳ 明朝" panose="02020609040205080304" pitchFamily="17" charset="-128"/>
            </a:rPr>
            <a:t>AI</a:t>
          </a:r>
          <a:endParaRPr kumimoji="1" lang="ja-JP" altLang="en-US" sz="3400" kern="1200" dirty="0">
            <a:latin typeface="ＭＳ 明朝" panose="02020609040205080304" pitchFamily="17" charset="-128"/>
            <a:ea typeface="ＭＳ 明朝" panose="02020609040205080304" pitchFamily="17" charset="-128"/>
          </a:endParaRPr>
        </a:p>
      </dsp:txBody>
      <dsp:txXfrm>
        <a:off x="4953363" y="1066669"/>
        <a:ext cx="1900049" cy="1268534"/>
      </dsp:txXfrm>
    </dsp:sp>
    <dsp:sp modelId="{FEDC6670-2536-448A-80E3-24232527FE0B}">
      <dsp:nvSpPr>
        <dsp:cNvPr id="0" name=""/>
        <dsp:cNvSpPr/>
      </dsp:nvSpPr>
      <dsp:spPr>
        <a:xfrm>
          <a:off x="7035985" y="999247"/>
          <a:ext cx="2188103" cy="1365072"/>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kumimoji="1" lang="ja-JP" altLang="en-US" sz="3400" kern="1200" dirty="0">
              <a:latin typeface="ＭＳ 明朝" panose="02020609040205080304" pitchFamily="17" charset="-128"/>
              <a:ea typeface="ＭＳ 明朝" panose="02020609040205080304" pitchFamily="17" charset="-128"/>
            </a:rPr>
            <a:t>アプリ</a:t>
          </a:r>
        </a:p>
      </dsp:txBody>
      <dsp:txXfrm>
        <a:off x="7102622" y="1065884"/>
        <a:ext cx="2054829" cy="1231798"/>
      </dsp:txXfrm>
    </dsp:sp>
    <dsp:sp modelId="{A9C2324B-7D32-420C-9E75-AFC886C8F28A}">
      <dsp:nvSpPr>
        <dsp:cNvPr id="0" name=""/>
        <dsp:cNvSpPr/>
      </dsp:nvSpPr>
      <dsp:spPr>
        <a:xfrm>
          <a:off x="240309" y="999240"/>
          <a:ext cx="2110871" cy="1403698"/>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kumimoji="1" lang="ja-JP" altLang="en-US" sz="3400" kern="1200" dirty="0">
              <a:latin typeface="ＭＳ 明朝" panose="02020609040205080304" pitchFamily="17" charset="-128"/>
              <a:ea typeface="ＭＳ 明朝" panose="02020609040205080304" pitchFamily="17" charset="-128"/>
            </a:rPr>
            <a:t>薬局</a:t>
          </a:r>
          <a:r>
            <a:rPr kumimoji="1" lang="en-US" altLang="ja-JP" sz="3400" kern="1200" dirty="0">
              <a:latin typeface="ＭＳ 明朝" panose="02020609040205080304" pitchFamily="17" charset="-128"/>
              <a:ea typeface="ＭＳ 明朝" panose="02020609040205080304" pitchFamily="17" charset="-128"/>
            </a:rPr>
            <a:t>/</a:t>
          </a:r>
        </a:p>
        <a:p>
          <a:pPr marL="0" lvl="0" indent="0" algn="ctr" defTabSz="1511300">
            <a:lnSpc>
              <a:spcPct val="90000"/>
            </a:lnSpc>
            <a:spcBef>
              <a:spcPct val="0"/>
            </a:spcBef>
            <a:spcAft>
              <a:spcPct val="35000"/>
            </a:spcAft>
            <a:buNone/>
          </a:pPr>
          <a:r>
            <a:rPr kumimoji="1" lang="ja-JP" altLang="en-US" sz="3400" kern="1200" dirty="0">
              <a:latin typeface="ＭＳ 明朝" panose="02020609040205080304" pitchFamily="17" charset="-128"/>
              <a:ea typeface="ＭＳ 明朝" panose="02020609040205080304" pitchFamily="17" charset="-128"/>
            </a:rPr>
            <a:t>医師</a:t>
          </a:r>
          <a:r>
            <a:rPr kumimoji="1" lang="ja-JP" altLang="en-US" sz="2400" kern="1200" dirty="0"/>
            <a:t>　</a:t>
          </a:r>
        </a:p>
      </dsp:txBody>
      <dsp:txXfrm>
        <a:off x="308832" y="1067763"/>
        <a:ext cx="1973825" cy="126665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EA6468-B182-47BE-9438-B0A99963D866}">
      <dsp:nvSpPr>
        <dsp:cNvPr id="0" name=""/>
        <dsp:cNvSpPr/>
      </dsp:nvSpPr>
      <dsp:spPr>
        <a:xfrm>
          <a:off x="720245" y="0"/>
          <a:ext cx="8162783" cy="3450613"/>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5834152-266D-45AD-8459-02141FC8E622}">
      <dsp:nvSpPr>
        <dsp:cNvPr id="0" name=""/>
        <dsp:cNvSpPr/>
      </dsp:nvSpPr>
      <dsp:spPr>
        <a:xfrm>
          <a:off x="5758" y="1035183"/>
          <a:ext cx="2996246" cy="1380245"/>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kumimoji="1" lang="ja-JP" altLang="en-US" sz="3400" kern="1200" dirty="0">
              <a:latin typeface="ＭＳ 明朝" panose="02020609040205080304" pitchFamily="17" charset="-128"/>
              <a:ea typeface="ＭＳ 明朝" panose="02020609040205080304" pitchFamily="17" charset="-128"/>
            </a:rPr>
            <a:t>データ取得</a:t>
          </a:r>
        </a:p>
      </dsp:txBody>
      <dsp:txXfrm>
        <a:off x="73136" y="1102561"/>
        <a:ext cx="2861490" cy="1245489"/>
      </dsp:txXfrm>
    </dsp:sp>
    <dsp:sp modelId="{3FCAB6D7-F972-4916-B5FB-5493CCD62179}">
      <dsp:nvSpPr>
        <dsp:cNvPr id="0" name=""/>
        <dsp:cNvSpPr/>
      </dsp:nvSpPr>
      <dsp:spPr>
        <a:xfrm>
          <a:off x="3303514" y="1035183"/>
          <a:ext cx="2996246" cy="1380245"/>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kumimoji="1" lang="ja-JP" altLang="en-US" sz="3400" kern="1200" dirty="0">
              <a:latin typeface="ＭＳ 明朝" panose="02020609040205080304" pitchFamily="17" charset="-128"/>
              <a:ea typeface="ＭＳ 明朝" panose="02020609040205080304" pitchFamily="17" charset="-128"/>
            </a:rPr>
            <a:t>フォロー業務</a:t>
          </a:r>
        </a:p>
      </dsp:txBody>
      <dsp:txXfrm>
        <a:off x="3370892" y="1102561"/>
        <a:ext cx="2861490" cy="1245489"/>
      </dsp:txXfrm>
    </dsp:sp>
    <dsp:sp modelId="{5CE36933-8755-47AB-8C60-A9546DAFC68F}">
      <dsp:nvSpPr>
        <dsp:cNvPr id="0" name=""/>
        <dsp:cNvSpPr/>
      </dsp:nvSpPr>
      <dsp:spPr>
        <a:xfrm>
          <a:off x="6601269" y="1035183"/>
          <a:ext cx="2996246" cy="1380245"/>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kumimoji="1" lang="ja-JP" altLang="en-US" sz="3400" kern="1200" dirty="0">
              <a:latin typeface="ＭＳ 明朝" panose="02020609040205080304" pitchFamily="17" charset="-128"/>
              <a:ea typeface="ＭＳ 明朝" panose="02020609040205080304" pitchFamily="17" charset="-128"/>
            </a:rPr>
            <a:t>服薬忘れ防止</a:t>
          </a:r>
        </a:p>
      </dsp:txBody>
      <dsp:txXfrm>
        <a:off x="6668647" y="1102561"/>
        <a:ext cx="2861490" cy="124548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792E7F-34DD-4C1B-A466-5DB7B85A99F9}">
      <dsp:nvSpPr>
        <dsp:cNvPr id="0" name=""/>
        <dsp:cNvSpPr/>
      </dsp:nvSpPr>
      <dsp:spPr>
        <a:xfrm>
          <a:off x="720245" y="0"/>
          <a:ext cx="8162783" cy="3450613"/>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DE00E83-01E6-4242-8B79-739AB104507E}">
      <dsp:nvSpPr>
        <dsp:cNvPr id="0" name=""/>
        <dsp:cNvSpPr/>
      </dsp:nvSpPr>
      <dsp:spPr>
        <a:xfrm>
          <a:off x="21333" y="1044610"/>
          <a:ext cx="2880982" cy="1380245"/>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kumimoji="1" lang="ja-JP" altLang="en-US" sz="3400" kern="1200" dirty="0">
              <a:latin typeface="ＭＳ 明朝" panose="02020609040205080304" pitchFamily="17" charset="-128"/>
              <a:ea typeface="ＭＳ 明朝" panose="02020609040205080304" pitchFamily="17" charset="-128"/>
            </a:rPr>
            <a:t>アプリ</a:t>
          </a:r>
        </a:p>
      </dsp:txBody>
      <dsp:txXfrm>
        <a:off x="88711" y="1111988"/>
        <a:ext cx="2746226" cy="1245489"/>
      </dsp:txXfrm>
    </dsp:sp>
    <dsp:sp modelId="{1BCFB106-682B-4952-ABFC-A98BEBC44654}">
      <dsp:nvSpPr>
        <dsp:cNvPr id="0" name=""/>
        <dsp:cNvSpPr/>
      </dsp:nvSpPr>
      <dsp:spPr>
        <a:xfrm>
          <a:off x="3361146" y="1035183"/>
          <a:ext cx="2880982" cy="1380245"/>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kumimoji="1" lang="ja-JP" altLang="en-US" sz="3400" kern="1200" dirty="0">
              <a:latin typeface="ＭＳ 明朝" panose="02020609040205080304" pitchFamily="17" charset="-128"/>
              <a:ea typeface="ＭＳ 明朝" panose="02020609040205080304" pitchFamily="17" charset="-128"/>
            </a:rPr>
            <a:t>認証</a:t>
          </a:r>
        </a:p>
      </dsp:txBody>
      <dsp:txXfrm>
        <a:off x="3428524" y="1102561"/>
        <a:ext cx="2746226" cy="1245489"/>
      </dsp:txXfrm>
    </dsp:sp>
    <dsp:sp modelId="{B85496F0-7E57-4A7C-938A-0F29007F428C}">
      <dsp:nvSpPr>
        <dsp:cNvPr id="0" name=""/>
        <dsp:cNvSpPr/>
      </dsp:nvSpPr>
      <dsp:spPr>
        <a:xfrm>
          <a:off x="6722292" y="1035183"/>
          <a:ext cx="2880982" cy="1380245"/>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kumimoji="1" lang="ja-JP" altLang="en-US" sz="3400" kern="1200" dirty="0">
              <a:latin typeface="ＭＳ 明朝" panose="02020609040205080304" pitchFamily="17" charset="-128"/>
              <a:ea typeface="ＭＳ 明朝" panose="02020609040205080304" pitchFamily="17" charset="-128"/>
            </a:rPr>
            <a:t>連携</a:t>
          </a:r>
        </a:p>
      </dsp:txBody>
      <dsp:txXfrm>
        <a:off x="6789670" y="1102561"/>
        <a:ext cx="2746226" cy="1245489"/>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7DEC344-23C3-4748-AEDF-3FDB69B6A420}" type="datetimeFigureOut">
              <a:rPr kumimoji="1" lang="ja-JP" altLang="en-US" smtClean="0"/>
              <a:t>2026/2/26</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42E968-90FD-4F25-A217-59DBD6DA5208}" type="slidenum">
              <a:rPr kumimoji="1" lang="ja-JP" altLang="en-US" smtClean="0"/>
              <a:t>‹#›</a:t>
            </a:fld>
            <a:endParaRPr kumimoji="1" lang="ja-JP" altLang="en-US"/>
          </a:p>
        </p:txBody>
      </p:sp>
    </p:spTree>
    <p:extLst>
      <p:ext uri="{BB962C8B-B14F-4D97-AF65-F5344CB8AC3E}">
        <p14:creationId xmlns:p14="http://schemas.microsoft.com/office/powerpoint/2010/main" val="49861224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このグループは</a:t>
            </a:r>
            <a:r>
              <a:rPr kumimoji="1" lang="en-US" altLang="ja-JP" dirty="0"/>
              <a:t>AI</a:t>
            </a:r>
            <a:r>
              <a:rPr kumimoji="1" lang="ja-JP" altLang="en-US" dirty="0"/>
              <a:t>を活用して服薬継続を支援するシステム「メディアケア・リワード」について説明します</a:t>
            </a:r>
            <a:endParaRPr kumimoji="1" lang="en-US" altLang="ja-JP" dirty="0"/>
          </a:p>
          <a:p>
            <a:r>
              <a:rPr kumimoji="1" lang="ja-JP" altLang="en-US" dirty="0"/>
              <a:t>メンバー紹介</a:t>
            </a:r>
            <a:r>
              <a:rPr kumimoji="1" lang="en-US" altLang="ja-JP" dirty="0"/>
              <a:t>(</a:t>
            </a:r>
            <a:r>
              <a:rPr kumimoji="1" lang="ja-JP" altLang="en-US" dirty="0"/>
              <a:t>中村</a:t>
            </a:r>
            <a:r>
              <a:rPr kumimoji="1" lang="en-US" altLang="ja-JP" dirty="0"/>
              <a:t>)</a:t>
            </a:r>
            <a:endParaRPr kumimoji="1" lang="ja-JP" altLang="en-US" dirty="0"/>
          </a:p>
        </p:txBody>
      </p:sp>
      <p:sp>
        <p:nvSpPr>
          <p:cNvPr id="4" name="スライド番号プレースホルダー 3"/>
          <p:cNvSpPr>
            <a:spLocks noGrp="1"/>
          </p:cNvSpPr>
          <p:nvPr>
            <p:ph type="sldNum" sz="quarter" idx="5"/>
          </p:nvPr>
        </p:nvSpPr>
        <p:spPr/>
        <p:txBody>
          <a:bodyPr/>
          <a:lstStyle/>
          <a:p>
            <a:fld id="{0F42E968-90FD-4F25-A217-59DBD6DA5208}" type="slidenum">
              <a:rPr kumimoji="1" lang="ja-JP" altLang="en-US" smtClean="0"/>
              <a:t>1</a:t>
            </a:fld>
            <a:endParaRPr kumimoji="1" lang="ja-JP" altLang="en-US"/>
          </a:p>
        </p:txBody>
      </p:sp>
    </p:spTree>
    <p:extLst>
      <p:ext uri="{BB962C8B-B14F-4D97-AF65-F5344CB8AC3E}">
        <p14:creationId xmlns:p14="http://schemas.microsoft.com/office/powerpoint/2010/main" val="8846605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目次</a:t>
            </a:r>
            <a:r>
              <a:rPr kumimoji="1" lang="en-US" altLang="ja-JP" dirty="0"/>
              <a:t>(</a:t>
            </a:r>
            <a:r>
              <a:rPr kumimoji="1" lang="ja-JP" altLang="en-US" dirty="0"/>
              <a:t>中村</a:t>
            </a:r>
            <a:r>
              <a:rPr kumimoji="1" lang="en-US" altLang="ja-JP" dirty="0"/>
              <a:t>)</a:t>
            </a:r>
            <a:endParaRPr kumimoji="1" lang="ja-JP" altLang="en-US" dirty="0"/>
          </a:p>
        </p:txBody>
      </p:sp>
      <p:sp>
        <p:nvSpPr>
          <p:cNvPr id="4" name="スライド番号プレースホルダー 3"/>
          <p:cNvSpPr>
            <a:spLocks noGrp="1"/>
          </p:cNvSpPr>
          <p:nvPr>
            <p:ph type="sldNum" sz="quarter" idx="5"/>
          </p:nvPr>
        </p:nvSpPr>
        <p:spPr/>
        <p:txBody>
          <a:bodyPr/>
          <a:lstStyle/>
          <a:p>
            <a:fld id="{0F42E968-90FD-4F25-A217-59DBD6DA5208}" type="slidenum">
              <a:rPr kumimoji="1" lang="ja-JP" altLang="en-US" smtClean="0"/>
              <a:t>2</a:t>
            </a:fld>
            <a:endParaRPr kumimoji="1" lang="ja-JP" altLang="en-US"/>
          </a:p>
        </p:txBody>
      </p:sp>
    </p:spTree>
    <p:extLst>
      <p:ext uri="{BB962C8B-B14F-4D97-AF65-F5344CB8AC3E}">
        <p14:creationId xmlns:p14="http://schemas.microsoft.com/office/powerpoint/2010/main" val="13314013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まずこのシステムを作るにあたって１人のペルソナを設計しました</a:t>
            </a:r>
            <a:endParaRPr kumimoji="1" lang="en-US" altLang="ja-JP" dirty="0"/>
          </a:p>
          <a:p>
            <a:r>
              <a:rPr kumimoji="1" lang="ja-JP" altLang="en-US" dirty="0"/>
              <a:t>山田きよえさん、女性、一人暮らし、薬は１日３回服用するように言われています。飲み忘れが月に数回あります。</a:t>
            </a:r>
          </a:p>
        </p:txBody>
      </p:sp>
      <p:sp>
        <p:nvSpPr>
          <p:cNvPr id="4" name="スライド番号プレースホルダー 3"/>
          <p:cNvSpPr>
            <a:spLocks noGrp="1"/>
          </p:cNvSpPr>
          <p:nvPr>
            <p:ph type="sldNum" sz="quarter" idx="5"/>
          </p:nvPr>
        </p:nvSpPr>
        <p:spPr/>
        <p:txBody>
          <a:bodyPr/>
          <a:lstStyle/>
          <a:p>
            <a:fld id="{0F42E968-90FD-4F25-A217-59DBD6DA5208}" type="slidenum">
              <a:rPr kumimoji="1" lang="ja-JP" altLang="en-US" smtClean="0"/>
              <a:t>3</a:t>
            </a:fld>
            <a:endParaRPr kumimoji="1" lang="ja-JP" altLang="en-US"/>
          </a:p>
        </p:txBody>
      </p:sp>
    </p:spTree>
    <p:extLst>
      <p:ext uri="{BB962C8B-B14F-4D97-AF65-F5344CB8AC3E}">
        <p14:creationId xmlns:p14="http://schemas.microsoft.com/office/powerpoint/2010/main" val="15615017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rtl="0" fontAlgn="base"/>
            <a:r>
              <a:rPr kumimoji="1" lang="ja-JP" altLang="en-US" sz="1200" b="0" i="0" kern="1200" dirty="0">
                <a:solidFill>
                  <a:schemeClr val="tx1"/>
                </a:solidFill>
                <a:effectLst/>
                <a:latin typeface="+mn-lt"/>
                <a:ea typeface="+mn-ea"/>
                <a:cs typeface="+mn-cs"/>
              </a:rPr>
              <a:t>このシステムを設計しようと思った背景は最近、高齢者の方の薬トラブルが増えているからです。 </a:t>
            </a:r>
            <a:br>
              <a:rPr kumimoji="1" lang="ja-JP" altLang="en-US" sz="1200" b="0" i="0" kern="1200" dirty="0">
                <a:solidFill>
                  <a:schemeClr val="tx1"/>
                </a:solidFill>
                <a:effectLst/>
                <a:latin typeface="+mn-lt"/>
                <a:ea typeface="+mn-ea"/>
                <a:cs typeface="+mn-cs"/>
              </a:rPr>
            </a:br>
            <a:r>
              <a:rPr kumimoji="1" lang="ja-JP" altLang="en-US" sz="1200" b="0" i="0" kern="1200" dirty="0">
                <a:solidFill>
                  <a:schemeClr val="tx1"/>
                </a:solidFill>
                <a:effectLst/>
                <a:latin typeface="+mn-lt"/>
                <a:ea typeface="+mn-ea"/>
                <a:cs typeface="+mn-cs"/>
              </a:rPr>
              <a:t>例えば、飲み忘れや、飲むタイミングの勘違いなどです。 </a:t>
            </a:r>
          </a:p>
          <a:p>
            <a:pPr rtl="0" fontAlgn="base"/>
            <a:r>
              <a:rPr kumimoji="1" lang="ja-JP" altLang="en-US" sz="1200" b="0" i="0" kern="1200" dirty="0">
                <a:solidFill>
                  <a:schemeClr val="tx1"/>
                </a:solidFill>
                <a:effectLst/>
                <a:latin typeface="+mn-lt"/>
                <a:ea typeface="+mn-ea"/>
                <a:cs typeface="+mn-cs"/>
              </a:rPr>
              <a:t>なぜかというと、薬の数が多かったり、 </a:t>
            </a:r>
            <a:br>
              <a:rPr kumimoji="1" lang="ja-JP" altLang="en-US" sz="1200" b="0" i="0" kern="1200" dirty="0">
                <a:solidFill>
                  <a:schemeClr val="tx1"/>
                </a:solidFill>
                <a:effectLst/>
                <a:latin typeface="+mn-lt"/>
                <a:ea typeface="+mn-ea"/>
                <a:cs typeface="+mn-cs"/>
              </a:rPr>
            </a:br>
            <a:r>
              <a:rPr kumimoji="1" lang="ja-JP" altLang="en-US" sz="1200" b="0" i="0" kern="1200" dirty="0">
                <a:solidFill>
                  <a:schemeClr val="tx1"/>
                </a:solidFill>
                <a:effectLst/>
                <a:latin typeface="+mn-lt"/>
                <a:ea typeface="+mn-ea"/>
                <a:cs typeface="+mn-cs"/>
              </a:rPr>
              <a:t>朝・昼・夜とタイミングが複雑だったりするためです。 </a:t>
            </a:r>
          </a:p>
          <a:p>
            <a:pPr rtl="0" fontAlgn="base"/>
            <a:r>
              <a:rPr kumimoji="1" lang="ja-JP" altLang="en-US" sz="1200" b="0" i="0" kern="1200" dirty="0">
                <a:solidFill>
                  <a:schemeClr val="tx1"/>
                </a:solidFill>
                <a:effectLst/>
                <a:latin typeface="+mn-lt"/>
                <a:ea typeface="+mn-ea"/>
                <a:cs typeface="+mn-cs"/>
              </a:rPr>
              <a:t>さらに、薬剤師の説明は基本的に一回きりなので、 </a:t>
            </a:r>
            <a:br>
              <a:rPr kumimoji="1" lang="ja-JP" altLang="en-US" sz="1200" b="0" i="0" kern="1200" dirty="0">
                <a:solidFill>
                  <a:schemeClr val="tx1"/>
                </a:solidFill>
                <a:effectLst/>
                <a:latin typeface="+mn-lt"/>
                <a:ea typeface="+mn-ea"/>
                <a:cs typeface="+mn-cs"/>
              </a:rPr>
            </a:br>
            <a:r>
              <a:rPr kumimoji="1" lang="ja-JP" altLang="en-US" sz="1200" b="0" i="0" kern="1200" dirty="0">
                <a:solidFill>
                  <a:schemeClr val="tx1"/>
                </a:solidFill>
                <a:effectLst/>
                <a:latin typeface="+mn-lt"/>
                <a:ea typeface="+mn-ea"/>
                <a:cs typeface="+mn-cs"/>
              </a:rPr>
              <a:t>家に帰ると忘れてしまう人が非常に多いのが実情です。</a:t>
            </a:r>
            <a:r>
              <a:rPr kumimoji="1" lang="en-US" altLang="ja-JP" sz="1200" b="0" i="0" kern="1200" dirty="0">
                <a:solidFill>
                  <a:schemeClr val="tx1"/>
                </a:solidFill>
                <a:effectLst/>
                <a:latin typeface="+mn-lt"/>
                <a:ea typeface="+mn-ea"/>
                <a:cs typeface="+mn-cs"/>
              </a:rPr>
              <a:t>(</a:t>
            </a:r>
            <a:r>
              <a:rPr kumimoji="1" lang="ja-JP" altLang="en-US" sz="1200" b="0" i="0" kern="1200" dirty="0">
                <a:solidFill>
                  <a:schemeClr val="tx1"/>
                </a:solidFill>
                <a:effectLst/>
                <a:latin typeface="+mn-lt"/>
                <a:ea typeface="+mn-ea"/>
                <a:cs typeface="+mn-cs"/>
              </a:rPr>
              <a:t>中村</a:t>
            </a:r>
            <a:r>
              <a:rPr kumimoji="1" lang="en-US" altLang="ja-JP" sz="1200" b="0" i="0" kern="1200" dirty="0">
                <a:solidFill>
                  <a:schemeClr val="tx1"/>
                </a:solidFill>
                <a:effectLst/>
                <a:latin typeface="+mn-lt"/>
                <a:ea typeface="+mn-ea"/>
                <a:cs typeface="+mn-cs"/>
              </a:rPr>
              <a:t>)</a:t>
            </a:r>
            <a:r>
              <a:rPr kumimoji="1" lang="ja-JP" altLang="en-US" sz="1200" b="0" i="0" kern="1200" dirty="0">
                <a:solidFill>
                  <a:schemeClr val="tx1"/>
                </a:solidFill>
                <a:effectLst/>
                <a:latin typeface="+mn-l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0" i="0" kern="1200" dirty="0">
              <a:solidFill>
                <a:schemeClr val="tx1"/>
              </a:solidFill>
              <a:effectLst/>
              <a:latin typeface="+mn-lt"/>
              <a:ea typeface="+mn-ea"/>
              <a:cs typeface="+mn-cs"/>
            </a:endParaRPr>
          </a:p>
          <a:p>
            <a:endParaRPr kumimoji="1" lang="ja-JP" altLang="en-US" dirty="0"/>
          </a:p>
        </p:txBody>
      </p:sp>
      <p:sp>
        <p:nvSpPr>
          <p:cNvPr id="4" name="スライド番号プレースホルダー 3"/>
          <p:cNvSpPr>
            <a:spLocks noGrp="1"/>
          </p:cNvSpPr>
          <p:nvPr>
            <p:ph type="sldNum" sz="quarter" idx="5"/>
          </p:nvPr>
        </p:nvSpPr>
        <p:spPr/>
        <p:txBody>
          <a:bodyPr/>
          <a:lstStyle/>
          <a:p>
            <a:fld id="{0F42E968-90FD-4F25-A217-59DBD6DA5208}" type="slidenum">
              <a:rPr kumimoji="1" lang="ja-JP" altLang="en-US" smtClean="0"/>
              <a:t>4</a:t>
            </a:fld>
            <a:endParaRPr kumimoji="1" lang="ja-JP" altLang="en-US"/>
          </a:p>
        </p:txBody>
      </p:sp>
    </p:spTree>
    <p:extLst>
      <p:ext uri="{BB962C8B-B14F-4D97-AF65-F5344CB8AC3E}">
        <p14:creationId xmlns:p14="http://schemas.microsoft.com/office/powerpoint/2010/main" val="30282116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rtl="0" fontAlgn="base"/>
            <a:r>
              <a:rPr kumimoji="1" lang="ja-JP" altLang="en-US" sz="1200" b="0" i="0" kern="1200" dirty="0">
                <a:solidFill>
                  <a:schemeClr val="tx1"/>
                </a:solidFill>
                <a:effectLst/>
                <a:latin typeface="+mn-lt"/>
                <a:ea typeface="+mn-ea"/>
                <a:cs typeface="+mn-cs"/>
              </a:rPr>
              <a:t>今の仕組みでは、薬局が患者さんの服薬状況を継続的にフォローするのはとても難しい状況です。 </a:t>
            </a:r>
            <a:br>
              <a:rPr kumimoji="1" lang="ja-JP" altLang="en-US" sz="1200" b="0" i="0" kern="1200" dirty="0">
                <a:solidFill>
                  <a:schemeClr val="tx1"/>
                </a:solidFill>
                <a:effectLst/>
                <a:latin typeface="+mn-lt"/>
                <a:ea typeface="+mn-ea"/>
                <a:cs typeface="+mn-cs"/>
              </a:rPr>
            </a:br>
            <a:r>
              <a:rPr kumimoji="1" lang="ja-JP" altLang="en-US" sz="1200" b="0" i="0" kern="1200" dirty="0">
                <a:solidFill>
                  <a:schemeClr val="tx1"/>
                </a:solidFill>
                <a:effectLst/>
                <a:latin typeface="+mn-lt"/>
                <a:ea typeface="+mn-ea"/>
                <a:cs typeface="+mn-cs"/>
              </a:rPr>
              <a:t>薬を渡すタイミングでは説明できますが、その後“本当に飲めているのか”までは、薬局側から確認する方法がありません。 </a:t>
            </a:r>
          </a:p>
          <a:p>
            <a:pPr rtl="0" fontAlgn="base"/>
            <a:r>
              <a:rPr kumimoji="1" lang="ja-JP" altLang="en-US" sz="1200" b="0" i="0" kern="1200" dirty="0">
                <a:solidFill>
                  <a:schemeClr val="tx1"/>
                </a:solidFill>
                <a:effectLst/>
                <a:latin typeface="+mn-lt"/>
                <a:ea typeface="+mn-ea"/>
                <a:cs typeface="+mn-cs"/>
              </a:rPr>
              <a:t>特に高齢の方の中には、家族と離れて暮らしているケースも多く、 </a:t>
            </a:r>
            <a:br>
              <a:rPr kumimoji="1" lang="ja-JP" altLang="en-US" sz="1200" b="0" i="0" kern="1200" dirty="0">
                <a:solidFill>
                  <a:schemeClr val="tx1"/>
                </a:solidFill>
                <a:effectLst/>
                <a:latin typeface="+mn-lt"/>
                <a:ea typeface="+mn-ea"/>
                <a:cs typeface="+mn-cs"/>
              </a:rPr>
            </a:br>
            <a:r>
              <a:rPr kumimoji="1" lang="ja-JP" altLang="en-US" sz="1200" b="0" i="0" kern="1200" dirty="0">
                <a:solidFill>
                  <a:schemeClr val="tx1"/>
                </a:solidFill>
                <a:effectLst/>
                <a:latin typeface="+mn-lt"/>
                <a:ea typeface="+mn-ea"/>
                <a:cs typeface="+mn-cs"/>
              </a:rPr>
              <a:t>家族も</a:t>
            </a:r>
            <a:r>
              <a:rPr kumimoji="1" lang="en-US" altLang="ja-JP" sz="1200" b="0" i="0" kern="1200" dirty="0">
                <a:solidFill>
                  <a:schemeClr val="tx1"/>
                </a:solidFill>
                <a:effectLst/>
                <a:latin typeface="+mn-lt"/>
                <a:ea typeface="+mn-ea"/>
                <a:cs typeface="+mn-cs"/>
              </a:rPr>
              <a:t>『</a:t>
            </a:r>
            <a:r>
              <a:rPr kumimoji="1" lang="ja-JP" altLang="en-US" sz="1200" b="0" i="0" kern="1200" dirty="0">
                <a:solidFill>
                  <a:schemeClr val="tx1"/>
                </a:solidFill>
                <a:effectLst/>
                <a:latin typeface="+mn-lt"/>
                <a:ea typeface="+mn-ea"/>
                <a:cs typeface="+mn-cs"/>
              </a:rPr>
              <a:t>今日飲んだ？ちゃんと続けられてる？</a:t>
            </a:r>
            <a:r>
              <a:rPr kumimoji="1" lang="en-US" altLang="ja-JP" sz="1200" b="0" i="0" kern="1200" dirty="0">
                <a:solidFill>
                  <a:schemeClr val="tx1"/>
                </a:solidFill>
                <a:effectLst/>
                <a:latin typeface="+mn-lt"/>
                <a:ea typeface="+mn-ea"/>
                <a:cs typeface="+mn-cs"/>
              </a:rPr>
              <a:t>』</a:t>
            </a:r>
            <a:r>
              <a:rPr kumimoji="1" lang="ja-JP" altLang="en-US" sz="1200" b="0" i="0" kern="1200" dirty="0">
                <a:solidFill>
                  <a:schemeClr val="tx1"/>
                </a:solidFill>
                <a:effectLst/>
                <a:latin typeface="+mn-lt"/>
                <a:ea typeface="+mn-ea"/>
                <a:cs typeface="+mn-cs"/>
              </a:rPr>
              <a:t>といった 日々の状況を把握できない</a:t>
            </a:r>
            <a:r>
              <a:rPr kumimoji="1" lang="ja-JP" altLang="en-US" sz="1200" b="1" i="0" kern="1200" dirty="0">
                <a:solidFill>
                  <a:schemeClr val="tx1"/>
                </a:solidFill>
                <a:effectLst/>
                <a:latin typeface="+mn-lt"/>
                <a:ea typeface="+mn-ea"/>
                <a:cs typeface="+mn-cs"/>
              </a:rPr>
              <a:t> </a:t>
            </a:r>
            <a:r>
              <a:rPr kumimoji="1" lang="ja-JP" altLang="en-US" sz="1200" b="0" i="0" kern="1200" dirty="0">
                <a:solidFill>
                  <a:schemeClr val="tx1"/>
                </a:solidFill>
                <a:effectLst/>
                <a:latin typeface="+mn-lt"/>
                <a:ea typeface="+mn-ea"/>
                <a:cs typeface="+mn-cs"/>
              </a:rPr>
              <a:t>という問題があります。 </a:t>
            </a:r>
          </a:p>
          <a:p>
            <a:pPr rtl="0" fontAlgn="base"/>
            <a:r>
              <a:rPr kumimoji="1" lang="ja-JP" altLang="en-US" sz="1200" b="0" i="0" kern="1200" dirty="0">
                <a:solidFill>
                  <a:schemeClr val="tx1"/>
                </a:solidFill>
                <a:effectLst/>
                <a:latin typeface="+mn-lt"/>
                <a:ea typeface="+mn-ea"/>
                <a:cs typeface="+mn-cs"/>
              </a:rPr>
              <a:t>その結果、 </a:t>
            </a:r>
          </a:p>
          <a:p>
            <a:pPr rtl="0" fontAlgn="base"/>
            <a:r>
              <a:rPr kumimoji="1" lang="ja-JP" altLang="en-US" sz="1200" b="0" i="1" kern="1200" dirty="0">
                <a:solidFill>
                  <a:schemeClr val="tx1"/>
                </a:solidFill>
                <a:effectLst/>
                <a:latin typeface="+mn-lt"/>
                <a:ea typeface="+mn-ea"/>
                <a:cs typeface="+mn-cs"/>
              </a:rPr>
              <a:t>薬を渡す薬局</a:t>
            </a:r>
            <a:r>
              <a:rPr kumimoji="1" lang="ja-JP" altLang="en-US" sz="1200" b="0" i="0" kern="1200" dirty="0">
                <a:solidFill>
                  <a:schemeClr val="tx1"/>
                </a:solidFill>
                <a:effectLst/>
                <a:latin typeface="+mn-lt"/>
                <a:ea typeface="+mn-ea"/>
                <a:cs typeface="+mn-cs"/>
              </a:rPr>
              <a:t> </a:t>
            </a:r>
          </a:p>
          <a:p>
            <a:pPr rtl="0" fontAlgn="base"/>
            <a:r>
              <a:rPr kumimoji="1" lang="ja-JP" altLang="en-US" sz="1200" b="0" i="1" kern="1200" dirty="0">
                <a:solidFill>
                  <a:schemeClr val="tx1"/>
                </a:solidFill>
                <a:effectLst/>
                <a:latin typeface="+mn-lt"/>
                <a:ea typeface="+mn-ea"/>
                <a:cs typeface="+mn-cs"/>
              </a:rPr>
              <a:t>薬を飲む本人</a:t>
            </a:r>
            <a:r>
              <a:rPr kumimoji="1" lang="ja-JP" altLang="en-US" sz="1200" b="0" i="0" kern="1200" dirty="0">
                <a:solidFill>
                  <a:schemeClr val="tx1"/>
                </a:solidFill>
                <a:effectLst/>
                <a:latin typeface="+mn-lt"/>
                <a:ea typeface="+mn-ea"/>
                <a:cs typeface="+mn-cs"/>
              </a:rPr>
              <a:t> </a:t>
            </a:r>
          </a:p>
          <a:p>
            <a:pPr rtl="0" fontAlgn="base"/>
            <a:r>
              <a:rPr kumimoji="1" lang="ja-JP" altLang="en-US" sz="1200" b="0" i="1" kern="1200" dirty="0">
                <a:solidFill>
                  <a:schemeClr val="tx1"/>
                </a:solidFill>
                <a:effectLst/>
                <a:latin typeface="+mn-lt"/>
                <a:ea typeface="+mn-ea"/>
                <a:cs typeface="+mn-cs"/>
              </a:rPr>
              <a:t>見守りたい家族</a:t>
            </a:r>
            <a:r>
              <a:rPr kumimoji="1" lang="ja-JP" altLang="en-US" sz="1200" b="0" i="0" kern="1200" dirty="0">
                <a:solidFill>
                  <a:schemeClr val="tx1"/>
                </a:solidFill>
                <a:effectLst/>
                <a:latin typeface="+mn-lt"/>
                <a:ea typeface="+mn-ea"/>
                <a:cs typeface="+mn-cs"/>
              </a:rPr>
              <a:t> </a:t>
            </a:r>
          </a:p>
          <a:p>
            <a:pPr rtl="0" fontAlgn="base"/>
            <a:r>
              <a:rPr kumimoji="1" lang="ja-JP" altLang="en-US" sz="1200" b="0" i="0" kern="1200" dirty="0">
                <a:solidFill>
                  <a:schemeClr val="tx1"/>
                </a:solidFill>
                <a:effectLst/>
                <a:latin typeface="+mn-lt"/>
                <a:ea typeface="+mn-ea"/>
                <a:cs typeface="+mn-cs"/>
              </a:rPr>
              <a:t>この</a:t>
            </a:r>
            <a:r>
              <a:rPr kumimoji="1" lang="en-US" altLang="ja-JP" sz="1200" b="0" i="0" kern="1200" dirty="0">
                <a:solidFill>
                  <a:schemeClr val="tx1"/>
                </a:solidFill>
                <a:effectLst/>
                <a:latin typeface="+mn-lt"/>
                <a:ea typeface="+mn-ea"/>
                <a:cs typeface="+mn-cs"/>
              </a:rPr>
              <a:t>3</a:t>
            </a:r>
            <a:r>
              <a:rPr kumimoji="1" lang="ja-JP" altLang="en-US" sz="1200" b="0" i="0" kern="1200" dirty="0">
                <a:solidFill>
                  <a:schemeClr val="tx1"/>
                </a:solidFill>
                <a:effectLst/>
                <a:latin typeface="+mn-lt"/>
                <a:ea typeface="+mn-ea"/>
                <a:cs typeface="+mn-cs"/>
              </a:rPr>
              <a:t>者の間で情報が共有されず、 </a:t>
            </a:r>
            <a:br>
              <a:rPr kumimoji="1" lang="ja-JP" altLang="en-US" sz="1200" b="0" i="0" kern="1200" dirty="0">
                <a:solidFill>
                  <a:schemeClr val="tx1"/>
                </a:solidFill>
                <a:effectLst/>
                <a:latin typeface="+mn-lt"/>
                <a:ea typeface="+mn-ea"/>
                <a:cs typeface="+mn-cs"/>
              </a:rPr>
            </a:br>
            <a:r>
              <a:rPr kumimoji="1" lang="ja-JP" altLang="en-US" sz="1200" b="0" i="0" kern="1200" dirty="0">
                <a:solidFill>
                  <a:schemeClr val="tx1"/>
                </a:solidFill>
                <a:effectLst/>
                <a:latin typeface="+mn-lt"/>
                <a:ea typeface="+mn-ea"/>
                <a:cs typeface="+mn-cs"/>
              </a:rPr>
              <a:t>本来は協力して服薬を支えるべきなのに、連携が分断された状態 になってしまっています。 </a:t>
            </a:r>
          </a:p>
          <a:p>
            <a:pPr rtl="0" fontAlgn="base"/>
            <a:r>
              <a:rPr kumimoji="1" lang="ja-JP" altLang="en-US" sz="1200" b="0" i="0" kern="1200" dirty="0">
                <a:solidFill>
                  <a:schemeClr val="tx1"/>
                </a:solidFill>
                <a:effectLst/>
                <a:latin typeface="+mn-lt"/>
                <a:ea typeface="+mn-ea"/>
                <a:cs typeface="+mn-cs"/>
              </a:rPr>
              <a:t>この“連携の途切れ”が、飲み忘れ・誤薬・受診の遅れなどにつながり、 </a:t>
            </a:r>
            <a:br>
              <a:rPr kumimoji="1" lang="ja-JP" altLang="en-US" sz="1200" b="0" i="0" kern="1200" dirty="0">
                <a:solidFill>
                  <a:schemeClr val="tx1"/>
                </a:solidFill>
                <a:effectLst/>
                <a:latin typeface="+mn-lt"/>
                <a:ea typeface="+mn-ea"/>
                <a:cs typeface="+mn-cs"/>
              </a:rPr>
            </a:br>
            <a:r>
              <a:rPr kumimoji="1" lang="ja-JP" altLang="en-US" sz="1200" b="0" i="0" kern="1200" dirty="0">
                <a:solidFill>
                  <a:schemeClr val="tx1"/>
                </a:solidFill>
                <a:effectLst/>
                <a:latin typeface="+mn-lt"/>
                <a:ea typeface="+mn-ea"/>
                <a:cs typeface="+mn-cs"/>
              </a:rPr>
              <a:t>結果として健康悪化や不安、医療費増大を引き起こしているのが現状の課題になっています。</a:t>
            </a:r>
            <a:r>
              <a:rPr kumimoji="1" lang="en-US" altLang="ja-JP" sz="1200" b="0" i="0" kern="1200" dirty="0">
                <a:solidFill>
                  <a:schemeClr val="tx1"/>
                </a:solidFill>
                <a:effectLst/>
                <a:latin typeface="+mn-lt"/>
                <a:ea typeface="+mn-ea"/>
                <a:cs typeface="+mn-cs"/>
              </a:rPr>
              <a:t>(</a:t>
            </a:r>
            <a:r>
              <a:rPr kumimoji="1" lang="ja-JP" altLang="en-US" sz="1200" b="0" i="0" kern="1200" dirty="0">
                <a:solidFill>
                  <a:schemeClr val="tx1"/>
                </a:solidFill>
                <a:effectLst/>
                <a:latin typeface="+mn-lt"/>
                <a:ea typeface="+mn-ea"/>
                <a:cs typeface="+mn-cs"/>
              </a:rPr>
              <a:t>中村</a:t>
            </a:r>
            <a:r>
              <a:rPr kumimoji="1" lang="en-US" altLang="ja-JP" sz="1200" b="0" i="0" kern="1200" dirty="0">
                <a:solidFill>
                  <a:schemeClr val="tx1"/>
                </a:solidFill>
                <a:effectLst/>
                <a:latin typeface="+mn-lt"/>
                <a:ea typeface="+mn-ea"/>
                <a:cs typeface="+mn-cs"/>
              </a:rPr>
              <a:t>)</a:t>
            </a:r>
            <a:r>
              <a:rPr kumimoji="1" lang="ja-JP" altLang="en-US" sz="1200" b="0" i="0" kern="1200" dirty="0">
                <a:solidFill>
                  <a:schemeClr val="tx1"/>
                </a:solidFill>
                <a:effectLst/>
                <a:latin typeface="+mn-lt"/>
                <a:ea typeface="+mn-ea"/>
                <a:cs typeface="+mn-cs"/>
              </a:rPr>
              <a:t> </a:t>
            </a:r>
          </a:p>
        </p:txBody>
      </p:sp>
      <p:sp>
        <p:nvSpPr>
          <p:cNvPr id="4" name="スライド番号プレースホルダー 3"/>
          <p:cNvSpPr>
            <a:spLocks noGrp="1"/>
          </p:cNvSpPr>
          <p:nvPr>
            <p:ph type="sldNum" sz="quarter" idx="5"/>
          </p:nvPr>
        </p:nvSpPr>
        <p:spPr/>
        <p:txBody>
          <a:bodyPr/>
          <a:lstStyle/>
          <a:p>
            <a:fld id="{0F42E968-90FD-4F25-A217-59DBD6DA5208}" type="slidenum">
              <a:rPr kumimoji="1" lang="ja-JP" altLang="en-US" smtClean="0"/>
              <a:t>5</a:t>
            </a:fld>
            <a:endParaRPr kumimoji="1" lang="ja-JP" altLang="en-US"/>
          </a:p>
        </p:txBody>
      </p:sp>
    </p:spTree>
    <p:extLst>
      <p:ext uri="{BB962C8B-B14F-4D97-AF65-F5344CB8AC3E}">
        <p14:creationId xmlns:p14="http://schemas.microsoft.com/office/powerpoint/2010/main" val="9880054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rtl="0" fontAlgn="base"/>
            <a:r>
              <a:rPr kumimoji="1" lang="ja-JP" altLang="en-US" sz="1200" b="0" i="0" kern="1200" dirty="0">
                <a:solidFill>
                  <a:schemeClr val="tx1"/>
                </a:solidFill>
                <a:effectLst/>
                <a:latin typeface="+mn-lt"/>
                <a:ea typeface="+mn-ea"/>
                <a:cs typeface="+mn-cs"/>
              </a:rPr>
              <a:t>服薬管理の問題は、患者さんだけではなく、その周囲の人たちにも大きく影響します。 </a:t>
            </a:r>
          </a:p>
          <a:p>
            <a:pPr rtl="0" fontAlgn="base"/>
            <a:r>
              <a:rPr kumimoji="1" lang="ja-JP" altLang="en-US" sz="1200" b="0" i="0" kern="1200" dirty="0">
                <a:solidFill>
                  <a:schemeClr val="tx1"/>
                </a:solidFill>
                <a:effectLst/>
                <a:latin typeface="+mn-lt"/>
                <a:ea typeface="+mn-ea"/>
                <a:cs typeface="+mn-cs"/>
              </a:rPr>
              <a:t>まず患者さん本人ですが、薬を正しく服用できない状態が続くと、症状が改善しなかったり、場合によっては悪化してしまいます。 </a:t>
            </a:r>
            <a:br>
              <a:rPr kumimoji="1" lang="ja-JP" altLang="en-US" sz="1200" b="0" i="0" kern="1200" dirty="0">
                <a:solidFill>
                  <a:schemeClr val="tx1"/>
                </a:solidFill>
                <a:effectLst/>
                <a:latin typeface="+mn-lt"/>
                <a:ea typeface="+mn-ea"/>
                <a:cs typeface="+mn-cs"/>
              </a:rPr>
            </a:br>
            <a:r>
              <a:rPr kumimoji="1" lang="ja-JP" altLang="en-US" sz="1200" b="0" i="0" kern="1200" dirty="0">
                <a:solidFill>
                  <a:schemeClr val="tx1"/>
                </a:solidFill>
                <a:effectLst/>
                <a:latin typeface="+mn-lt"/>
                <a:ea typeface="+mn-ea"/>
                <a:cs typeface="+mn-cs"/>
              </a:rPr>
              <a:t>慢性疾患の場合は特に、飲み忘れが積み重なることで病状のコントロールが難しくなります。 </a:t>
            </a:r>
            <a:endParaRPr kumimoji="1" lang="en-US" altLang="ja-JP" sz="1200" b="0" i="0" kern="1200" dirty="0">
              <a:solidFill>
                <a:schemeClr val="tx1"/>
              </a:solidFill>
              <a:effectLst/>
              <a:latin typeface="+mn-lt"/>
              <a:ea typeface="+mn-ea"/>
              <a:cs typeface="+mn-cs"/>
            </a:endParaRPr>
          </a:p>
          <a:p>
            <a:pPr marL="0" marR="0" lvl="0" indent="0" algn="l" defTabSz="914400" rtl="0" eaLnBrk="1" fontAlgn="base" latinLnBrk="0" hangingPunct="1">
              <a:lnSpc>
                <a:spcPct val="100000"/>
              </a:lnSpc>
              <a:spcBef>
                <a:spcPts val="0"/>
              </a:spcBef>
              <a:spcAft>
                <a:spcPts val="0"/>
              </a:spcAft>
              <a:buClrTx/>
              <a:buSzTx/>
              <a:buFontTx/>
              <a:buNone/>
              <a:tabLst/>
              <a:defRPr/>
            </a:pPr>
            <a:r>
              <a:rPr kumimoji="1" lang="ja-JP" altLang="ja-JP" sz="1200" kern="1200" dirty="0">
                <a:solidFill>
                  <a:schemeClr val="tx1"/>
                </a:solidFill>
                <a:effectLst/>
                <a:latin typeface="+mn-lt"/>
                <a:ea typeface="+mn-ea"/>
                <a:cs typeface="+mn-cs"/>
              </a:rPr>
              <a:t>次に家族です。</a:t>
            </a:r>
            <a:br>
              <a:rPr kumimoji="1" lang="en-US" altLang="ja-JP" sz="1200" kern="1200" dirty="0">
                <a:solidFill>
                  <a:schemeClr val="tx1"/>
                </a:solidFill>
                <a:effectLst/>
                <a:latin typeface="+mn-lt"/>
                <a:ea typeface="+mn-ea"/>
                <a:cs typeface="+mn-cs"/>
              </a:rPr>
            </a:br>
            <a:r>
              <a:rPr kumimoji="1" lang="ja-JP" altLang="ja-JP" sz="1200" kern="1200" dirty="0">
                <a:solidFill>
                  <a:schemeClr val="tx1"/>
                </a:solidFill>
                <a:effectLst/>
                <a:latin typeface="+mn-lt"/>
                <a:ea typeface="+mn-ea"/>
                <a:cs typeface="+mn-cs"/>
              </a:rPr>
              <a:t>離れて暮らしていると</a:t>
            </a:r>
            <a:r>
              <a:rPr kumimoji="1" lang="en-US" altLang="ja-JP" sz="1200" kern="1200" dirty="0">
                <a:solidFill>
                  <a:schemeClr val="tx1"/>
                </a:solidFill>
                <a:effectLst/>
                <a:latin typeface="+mn-lt"/>
                <a:ea typeface="+mn-ea"/>
                <a:cs typeface="+mn-cs"/>
              </a:rPr>
              <a:t> “</a:t>
            </a:r>
            <a:r>
              <a:rPr kumimoji="1" lang="ja-JP" altLang="ja-JP" sz="1200" kern="1200" dirty="0">
                <a:solidFill>
                  <a:schemeClr val="tx1"/>
                </a:solidFill>
                <a:effectLst/>
                <a:latin typeface="+mn-lt"/>
                <a:ea typeface="+mn-ea"/>
                <a:cs typeface="+mn-cs"/>
              </a:rPr>
              <a:t>今日きちんと飲めているのか</a:t>
            </a:r>
            <a:r>
              <a:rPr kumimoji="1" lang="en-US" altLang="ja-JP" sz="1200" kern="1200" dirty="0">
                <a:solidFill>
                  <a:schemeClr val="tx1"/>
                </a:solidFill>
                <a:effectLst/>
                <a:latin typeface="+mn-lt"/>
                <a:ea typeface="+mn-ea"/>
                <a:cs typeface="+mn-cs"/>
              </a:rPr>
              <a:t>”“</a:t>
            </a:r>
            <a:r>
              <a:rPr kumimoji="1" lang="ja-JP" altLang="ja-JP" sz="1200" kern="1200" dirty="0">
                <a:solidFill>
                  <a:schemeClr val="tx1"/>
                </a:solidFill>
                <a:effectLst/>
                <a:latin typeface="+mn-lt"/>
                <a:ea typeface="+mn-ea"/>
                <a:cs typeface="+mn-cs"/>
              </a:rPr>
              <a:t>体調は悪くなっていないか</a:t>
            </a:r>
            <a:r>
              <a:rPr kumimoji="1" lang="en-US" altLang="ja-JP" sz="1200" kern="1200" dirty="0">
                <a:solidFill>
                  <a:schemeClr val="tx1"/>
                </a:solidFill>
                <a:effectLst/>
                <a:latin typeface="+mn-lt"/>
                <a:ea typeface="+mn-ea"/>
                <a:cs typeface="+mn-cs"/>
              </a:rPr>
              <a:t>” </a:t>
            </a:r>
            <a:r>
              <a:rPr kumimoji="1" lang="ja-JP" altLang="ja-JP" sz="1200" kern="1200" dirty="0">
                <a:solidFill>
                  <a:schemeClr val="tx1"/>
                </a:solidFill>
                <a:effectLst/>
                <a:latin typeface="+mn-lt"/>
                <a:ea typeface="+mn-ea"/>
                <a:cs typeface="+mn-cs"/>
              </a:rPr>
              <a:t>といった情報が分からないため、常に不安がつきまといます。</a:t>
            </a:r>
            <a:br>
              <a:rPr kumimoji="1" lang="en-US" altLang="ja-JP" sz="1200" kern="1200" dirty="0">
                <a:solidFill>
                  <a:schemeClr val="tx1"/>
                </a:solidFill>
                <a:effectLst/>
                <a:latin typeface="+mn-lt"/>
                <a:ea typeface="+mn-ea"/>
                <a:cs typeface="+mn-cs"/>
              </a:rPr>
            </a:br>
            <a:r>
              <a:rPr kumimoji="1" lang="ja-JP" altLang="ja-JP" sz="1200" kern="1200" dirty="0">
                <a:solidFill>
                  <a:schemeClr val="tx1"/>
                </a:solidFill>
                <a:effectLst/>
                <a:latin typeface="+mn-lt"/>
                <a:ea typeface="+mn-ea"/>
                <a:cs typeface="+mn-cs"/>
              </a:rPr>
              <a:t>特に高齢の親を持つ家族では、この心理的負担がとても大きくなります。</a:t>
            </a:r>
            <a:endParaRPr kumimoji="1" lang="ja-JP" altLang="en-US" sz="1200" b="0" i="0" kern="1200" dirty="0">
              <a:solidFill>
                <a:schemeClr val="tx1"/>
              </a:solidFill>
              <a:effectLst/>
              <a:latin typeface="+mn-lt"/>
              <a:ea typeface="+mn-ea"/>
              <a:cs typeface="+mn-cs"/>
            </a:endParaRPr>
          </a:p>
          <a:p>
            <a:pPr rtl="0" fontAlgn="base"/>
            <a:r>
              <a:rPr kumimoji="1" lang="ja-JP" altLang="en-US" sz="1200" b="0" i="0" kern="1200" dirty="0">
                <a:solidFill>
                  <a:schemeClr val="tx1"/>
                </a:solidFill>
                <a:effectLst/>
                <a:latin typeface="+mn-lt"/>
                <a:ea typeface="+mn-ea"/>
                <a:cs typeface="+mn-cs"/>
              </a:rPr>
              <a:t>薬局側にも影響があります。 </a:t>
            </a:r>
            <a:br>
              <a:rPr kumimoji="1" lang="ja-JP" altLang="en-US" sz="1200" b="0" i="0" kern="1200" dirty="0">
                <a:solidFill>
                  <a:schemeClr val="tx1"/>
                </a:solidFill>
                <a:effectLst/>
                <a:latin typeface="+mn-lt"/>
                <a:ea typeface="+mn-ea"/>
                <a:cs typeface="+mn-cs"/>
              </a:rPr>
            </a:br>
            <a:r>
              <a:rPr kumimoji="1" lang="ja-JP" altLang="en-US" sz="1200" b="0" i="0" kern="1200" dirty="0">
                <a:solidFill>
                  <a:schemeClr val="tx1"/>
                </a:solidFill>
                <a:effectLst/>
                <a:latin typeface="+mn-lt"/>
                <a:ea typeface="+mn-ea"/>
                <a:cs typeface="+mn-cs"/>
              </a:rPr>
              <a:t>服薬後の状況を把握できないため、患者さんや家族からの電話や相談が増え、対応に追われるケースも多く、現場の負担が大きくなるという問題があります。 </a:t>
            </a:r>
          </a:p>
          <a:p>
            <a:pPr rtl="0" fontAlgn="base"/>
            <a:r>
              <a:rPr kumimoji="1" lang="ja-JP" altLang="en-US" sz="1200" b="0" i="0" kern="1200" dirty="0">
                <a:solidFill>
                  <a:schemeClr val="tx1"/>
                </a:solidFill>
                <a:effectLst/>
                <a:latin typeface="+mn-lt"/>
                <a:ea typeface="+mn-ea"/>
                <a:cs typeface="+mn-cs"/>
              </a:rPr>
              <a:t>そして最終的には、飲み忘れや誤薬によって症状が悪化し、受診回数が増えたり、入院につながることもあります。 </a:t>
            </a:r>
            <a:br>
              <a:rPr kumimoji="1" lang="ja-JP" altLang="en-US" sz="1200" b="0" i="0" kern="1200" dirty="0">
                <a:solidFill>
                  <a:schemeClr val="tx1"/>
                </a:solidFill>
                <a:effectLst/>
                <a:latin typeface="+mn-lt"/>
                <a:ea typeface="+mn-ea"/>
                <a:cs typeface="+mn-cs"/>
              </a:rPr>
            </a:br>
            <a:r>
              <a:rPr kumimoji="1" lang="ja-JP" altLang="en-US" sz="1200" b="0" i="0" kern="1200" dirty="0">
                <a:solidFill>
                  <a:schemeClr val="tx1"/>
                </a:solidFill>
                <a:effectLst/>
                <a:latin typeface="+mn-lt"/>
                <a:ea typeface="+mn-ea"/>
                <a:cs typeface="+mn-cs"/>
              </a:rPr>
              <a:t>これは医療費の増加、つまり社会全体のコスト増につながってしまいます。</a:t>
            </a:r>
            <a:r>
              <a:rPr kumimoji="1" lang="en-US" altLang="ja-JP" sz="1200" b="0" i="0" kern="1200" dirty="0">
                <a:solidFill>
                  <a:schemeClr val="tx1"/>
                </a:solidFill>
                <a:effectLst/>
                <a:latin typeface="+mn-lt"/>
                <a:ea typeface="+mn-ea"/>
                <a:cs typeface="+mn-cs"/>
              </a:rPr>
              <a:t>(</a:t>
            </a:r>
            <a:r>
              <a:rPr kumimoji="1" lang="ja-JP" altLang="en-US" sz="1200" b="0" i="0" kern="1200" dirty="0">
                <a:solidFill>
                  <a:schemeClr val="tx1"/>
                </a:solidFill>
                <a:effectLst/>
                <a:latin typeface="+mn-lt"/>
                <a:ea typeface="+mn-ea"/>
                <a:cs typeface="+mn-cs"/>
              </a:rPr>
              <a:t>中村</a:t>
            </a:r>
            <a:r>
              <a:rPr kumimoji="1" lang="en-US" altLang="ja-JP" sz="1200" b="0" i="0" kern="1200" dirty="0">
                <a:solidFill>
                  <a:schemeClr val="tx1"/>
                </a:solidFill>
                <a:effectLst/>
                <a:latin typeface="+mn-lt"/>
                <a:ea typeface="+mn-ea"/>
                <a:cs typeface="+mn-cs"/>
              </a:rPr>
              <a:t>)</a:t>
            </a:r>
            <a:endParaRPr kumimoji="1" lang="ja-JP" altLang="en-US" sz="1200" b="0" i="0" kern="1200" dirty="0">
              <a:solidFill>
                <a:schemeClr val="tx1"/>
              </a:solidFill>
              <a:effectLst/>
              <a:latin typeface="+mn-lt"/>
              <a:ea typeface="+mn-ea"/>
              <a:cs typeface="+mn-cs"/>
            </a:endParaRPr>
          </a:p>
        </p:txBody>
      </p:sp>
      <p:sp>
        <p:nvSpPr>
          <p:cNvPr id="4" name="スライド番号プレースホルダー 3"/>
          <p:cNvSpPr>
            <a:spLocks noGrp="1"/>
          </p:cNvSpPr>
          <p:nvPr>
            <p:ph type="sldNum" sz="quarter" idx="5"/>
          </p:nvPr>
        </p:nvSpPr>
        <p:spPr/>
        <p:txBody>
          <a:bodyPr/>
          <a:lstStyle/>
          <a:p>
            <a:fld id="{0F42E968-90FD-4F25-A217-59DBD6DA5208}" type="slidenum">
              <a:rPr kumimoji="1" lang="ja-JP" altLang="en-US" smtClean="0"/>
              <a:t>6</a:t>
            </a:fld>
            <a:endParaRPr kumimoji="1" lang="ja-JP" altLang="en-US"/>
          </a:p>
        </p:txBody>
      </p:sp>
    </p:spTree>
    <p:extLst>
      <p:ext uri="{BB962C8B-B14F-4D97-AF65-F5344CB8AC3E}">
        <p14:creationId xmlns:p14="http://schemas.microsoft.com/office/powerpoint/2010/main" val="29935738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sz="1200" b="0" i="0" kern="1200" dirty="0">
                <a:solidFill>
                  <a:schemeClr val="tx1"/>
                </a:solidFill>
                <a:effectLst/>
                <a:latin typeface="+mn-lt"/>
                <a:ea typeface="+mn-ea"/>
                <a:cs typeface="+mn-cs"/>
              </a:rPr>
              <a:t>私たちのコンセプトは、</a:t>
            </a:r>
            <a:r>
              <a:rPr kumimoji="1" lang="ja-JP" altLang="en-US" sz="1200" b="1" i="0" kern="1200" dirty="0">
                <a:solidFill>
                  <a:schemeClr val="tx1"/>
                </a:solidFill>
                <a:effectLst/>
                <a:latin typeface="+mn-lt"/>
                <a:ea typeface="+mn-ea"/>
                <a:cs typeface="+mn-cs"/>
              </a:rPr>
              <a:t>“</a:t>
            </a:r>
            <a:r>
              <a:rPr kumimoji="1" lang="ja-JP" altLang="en-US" sz="1200" b="0" i="0" kern="1200" dirty="0">
                <a:solidFill>
                  <a:schemeClr val="tx1"/>
                </a:solidFill>
                <a:effectLst/>
                <a:latin typeface="+mn-lt"/>
                <a:ea typeface="+mn-ea"/>
                <a:cs typeface="+mn-cs"/>
              </a:rPr>
              <a:t>見える化”して“続ける”をサポートすることです。</a:t>
            </a:r>
            <a:r>
              <a:rPr kumimoji="1" lang="en-US" altLang="ja-JP" sz="1200" b="0" i="0" kern="1200" dirty="0">
                <a:solidFill>
                  <a:schemeClr val="tx1"/>
                </a:solidFill>
                <a:effectLst/>
                <a:latin typeface="+mn-lt"/>
                <a:ea typeface="+mn-ea"/>
                <a:cs typeface="+mn-cs"/>
              </a:rPr>
              <a:t>(</a:t>
            </a:r>
            <a:r>
              <a:rPr kumimoji="1" lang="ja-JP" altLang="en-US" sz="1200" b="0" i="0" kern="1200" dirty="0">
                <a:solidFill>
                  <a:schemeClr val="tx1"/>
                </a:solidFill>
                <a:effectLst/>
                <a:latin typeface="+mn-lt"/>
                <a:ea typeface="+mn-ea"/>
                <a:cs typeface="+mn-cs"/>
              </a:rPr>
              <a:t>中村</a:t>
            </a:r>
            <a:r>
              <a:rPr kumimoji="1" lang="en-US" altLang="ja-JP" sz="1200" b="0" i="0" kern="1200" dirty="0">
                <a:solidFill>
                  <a:schemeClr val="tx1"/>
                </a:solidFill>
                <a:effectLst/>
                <a:latin typeface="+mn-lt"/>
                <a:ea typeface="+mn-ea"/>
                <a:cs typeface="+mn-cs"/>
              </a:rPr>
              <a:t>)</a:t>
            </a:r>
            <a:endParaRPr kumimoji="1" lang="ja-JP" altLang="en-US" dirty="0"/>
          </a:p>
        </p:txBody>
      </p:sp>
      <p:sp>
        <p:nvSpPr>
          <p:cNvPr id="4" name="スライド番号プレースホルダー 3"/>
          <p:cNvSpPr>
            <a:spLocks noGrp="1"/>
          </p:cNvSpPr>
          <p:nvPr>
            <p:ph type="sldNum" sz="quarter" idx="5"/>
          </p:nvPr>
        </p:nvSpPr>
        <p:spPr/>
        <p:txBody>
          <a:bodyPr/>
          <a:lstStyle/>
          <a:p>
            <a:fld id="{0F42E968-90FD-4F25-A217-59DBD6DA5208}" type="slidenum">
              <a:rPr kumimoji="1" lang="ja-JP" altLang="en-US" smtClean="0"/>
              <a:t>7</a:t>
            </a:fld>
            <a:endParaRPr kumimoji="1" lang="ja-JP" altLang="en-US"/>
          </a:p>
        </p:txBody>
      </p:sp>
    </p:spTree>
    <p:extLst>
      <p:ext uri="{BB962C8B-B14F-4D97-AF65-F5344CB8AC3E}">
        <p14:creationId xmlns:p14="http://schemas.microsoft.com/office/powerpoint/2010/main" val="10521945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AI</a:t>
            </a:r>
            <a:r>
              <a:rPr kumimoji="1" lang="ja-JP" altLang="en-US" dirty="0"/>
              <a:t>の役割としてはこの次のスライドで詳しく説明があるので簡潔に説明します</a:t>
            </a:r>
            <a:endParaRPr kumimoji="1" lang="en-US" altLang="ja-JP" dirty="0"/>
          </a:p>
          <a:p>
            <a:r>
              <a:rPr kumimoji="1" lang="ja-JP" altLang="en-US" dirty="0"/>
              <a:t>一つが画像認識</a:t>
            </a:r>
            <a:endParaRPr kumimoji="1" lang="en-US" altLang="ja-JP" dirty="0"/>
          </a:p>
          <a:p>
            <a:r>
              <a:rPr kumimoji="1" lang="ja-JP" altLang="en-US" dirty="0"/>
              <a:t>二つ目がデータ記録</a:t>
            </a:r>
            <a:endParaRPr kumimoji="1" lang="en-US" altLang="ja-JP" dirty="0"/>
          </a:p>
          <a:p>
            <a:r>
              <a:rPr kumimoji="1" lang="ja-JP" altLang="en-US" dirty="0"/>
              <a:t>主にこの二つの役割があります</a:t>
            </a:r>
            <a:r>
              <a:rPr kumimoji="1" lang="en-US" altLang="ja-JP" dirty="0"/>
              <a:t>(</a:t>
            </a:r>
            <a:r>
              <a:rPr kumimoji="1" lang="ja-JP" altLang="en-US" dirty="0"/>
              <a:t>北田</a:t>
            </a:r>
            <a:r>
              <a:rPr kumimoji="1" lang="en-US" altLang="ja-JP" dirty="0"/>
              <a:t>)</a:t>
            </a:r>
          </a:p>
          <a:p>
            <a:endParaRPr kumimoji="1" lang="ja-JP" altLang="en-US" dirty="0"/>
          </a:p>
        </p:txBody>
      </p:sp>
      <p:sp>
        <p:nvSpPr>
          <p:cNvPr id="4" name="スライド番号プレースホルダー 3"/>
          <p:cNvSpPr>
            <a:spLocks noGrp="1"/>
          </p:cNvSpPr>
          <p:nvPr>
            <p:ph type="sldNum" sz="quarter" idx="5"/>
          </p:nvPr>
        </p:nvSpPr>
        <p:spPr/>
        <p:txBody>
          <a:bodyPr/>
          <a:lstStyle/>
          <a:p>
            <a:fld id="{0F42E968-90FD-4F25-A217-59DBD6DA5208}" type="slidenum">
              <a:rPr kumimoji="1" lang="ja-JP" altLang="en-US" smtClean="0"/>
              <a:t>8</a:t>
            </a:fld>
            <a:endParaRPr kumimoji="1" lang="ja-JP" altLang="en-US"/>
          </a:p>
        </p:txBody>
      </p:sp>
    </p:spTree>
    <p:extLst>
      <p:ext uri="{BB962C8B-B14F-4D97-AF65-F5344CB8AC3E}">
        <p14:creationId xmlns:p14="http://schemas.microsoft.com/office/powerpoint/2010/main" val="38752392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次に患者側、薬局側、家族側の３者間での流れについて説明します。</a:t>
            </a:r>
            <a:endParaRPr kumimoji="1" lang="en-US" altLang="ja-JP" dirty="0"/>
          </a:p>
          <a:p>
            <a:r>
              <a:rPr kumimoji="1" lang="ja-JP" altLang="en-US" dirty="0"/>
              <a:t>まず患者側の流れについて説明します。</a:t>
            </a:r>
            <a:endParaRPr kumimoji="1" lang="en-US" altLang="ja-JP" dirty="0"/>
          </a:p>
          <a:p>
            <a:r>
              <a:rPr kumimoji="1" lang="ja-JP" altLang="en-US" dirty="0"/>
              <a:t>流れはまず</a:t>
            </a:r>
            <a:r>
              <a:rPr lang="ja-JP" altLang="en-US" b="0" dirty="0"/>
              <a:t>電子薬歴システム</a:t>
            </a:r>
            <a:r>
              <a:rPr lang="ja-JP" altLang="en-US" dirty="0"/>
              <a:t>や</a:t>
            </a:r>
            <a:r>
              <a:rPr lang="ja-JP" altLang="en-US" b="0" dirty="0"/>
              <a:t>レセコン</a:t>
            </a:r>
            <a:r>
              <a:rPr lang="ja-JP" altLang="en-US" dirty="0"/>
              <a:t> </a:t>
            </a:r>
            <a:r>
              <a:rPr lang="en-US" altLang="ja-JP" dirty="0"/>
              <a:t>(</a:t>
            </a:r>
            <a:r>
              <a:rPr lang="ja-JP" altLang="en-US" dirty="0"/>
              <a:t>レセプトコンピューター</a:t>
            </a:r>
            <a:r>
              <a:rPr lang="en-US" altLang="ja-JP" dirty="0"/>
              <a:t>) </a:t>
            </a:r>
            <a:r>
              <a:rPr lang="ja-JP" altLang="en-US" dirty="0"/>
              <a:t>に処方箋データは既に存在しているので従来通りに薬局側がデータ入力を行います。</a:t>
            </a:r>
            <a:endParaRPr kumimoji="1" lang="en-US" altLang="ja-JP" dirty="0"/>
          </a:p>
          <a:p>
            <a:r>
              <a:rPr kumimoji="1" lang="ja-JP" altLang="en-US" dirty="0"/>
              <a:t>患者さんが</a:t>
            </a:r>
            <a:r>
              <a:rPr lang="ja-JP" altLang="en-US" dirty="0"/>
              <a:t>薬を手に取り、アプリのカメラを起動。服薬前の錠剤を撮影します。</a:t>
            </a:r>
            <a:endParaRPr lang="en-US" altLang="ja-JP" dirty="0"/>
          </a:p>
          <a:p>
            <a:r>
              <a:rPr lang="ja-JP" altLang="en-US" dirty="0"/>
              <a:t>撮影された画像を</a:t>
            </a:r>
            <a:r>
              <a:rPr lang="en-US" altLang="ja-JP" dirty="0"/>
              <a:t>AI</a:t>
            </a:r>
            <a:r>
              <a:rPr lang="ja-JP" altLang="en-US" dirty="0"/>
              <a:t>が解析し、</a:t>
            </a:r>
            <a:r>
              <a:rPr lang="ja-JP" altLang="en-US" b="1" dirty="0"/>
              <a:t> </a:t>
            </a:r>
            <a:r>
              <a:rPr lang="ja-JP" altLang="en-US" b="0" dirty="0"/>
              <a:t>薬局側が入力したデータをもとに薬がしっかり服薬されているかを確認します。</a:t>
            </a:r>
            <a:endParaRPr lang="en-US" altLang="ja-JP" dirty="0"/>
          </a:p>
          <a:p>
            <a:r>
              <a:rPr lang="ja-JP" altLang="en-US" dirty="0"/>
              <a:t>ユーザーが何も操作しなくてもアプリ側で</a:t>
            </a:r>
            <a:r>
              <a:rPr lang="ja-JP" altLang="en-US" b="0" dirty="0"/>
              <a:t>電子薬歴システム</a:t>
            </a:r>
            <a:r>
              <a:rPr lang="ja-JP" altLang="en-US" dirty="0"/>
              <a:t>や</a:t>
            </a:r>
            <a:r>
              <a:rPr lang="ja-JP" altLang="en-US" b="0" dirty="0"/>
              <a:t>レセコン</a:t>
            </a:r>
            <a:r>
              <a:rPr lang="ja-JP" altLang="en-US" dirty="0"/>
              <a:t> </a:t>
            </a:r>
            <a:r>
              <a:rPr lang="en-US" altLang="ja-JP" dirty="0"/>
              <a:t>(</a:t>
            </a:r>
            <a:r>
              <a:rPr lang="ja-JP" altLang="en-US" dirty="0"/>
              <a:t>レセプトコンピューター</a:t>
            </a:r>
            <a:r>
              <a:rPr lang="en-US" altLang="ja-JP" dirty="0"/>
              <a:t>) </a:t>
            </a:r>
            <a:r>
              <a:rPr lang="ja-JP" altLang="en-US" dirty="0"/>
              <a:t>に記録を反映されます。</a:t>
            </a:r>
            <a:endParaRPr lang="en-US" altLang="ja-JP" dirty="0"/>
          </a:p>
          <a:p>
            <a:r>
              <a:rPr lang="ja-JP" altLang="en-US" dirty="0"/>
              <a:t>これらの機能によって</a:t>
            </a:r>
            <a:r>
              <a:rPr lang="ja-JP" altLang="en-US" b="0" dirty="0"/>
              <a:t>複雑な画面操作が不要になり、患者側は</a:t>
            </a:r>
            <a:r>
              <a:rPr lang="ja-JP" altLang="en-US" dirty="0"/>
              <a:t>撮影だけという習慣に置き換えます。</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b="0" dirty="0"/>
              <a:t>また、記録ボタンもないので</a:t>
            </a:r>
            <a:r>
              <a:rPr kumimoji="1" lang="ja-JP" altLang="en-US" dirty="0"/>
              <a:t>記録ボタンを押し忘れるなどミスの防止もしています。</a:t>
            </a:r>
            <a:r>
              <a:rPr kumimoji="1" lang="en-US" altLang="ja-JP" dirty="0"/>
              <a:t>(</a:t>
            </a:r>
            <a:r>
              <a:rPr kumimoji="1" lang="ja-JP" altLang="en-US" dirty="0"/>
              <a:t>北田</a:t>
            </a:r>
            <a:r>
              <a:rPr kumimoji="1" lang="en-US" altLang="ja-JP" dirty="0"/>
              <a:t>)</a:t>
            </a:r>
            <a:endParaRPr lang="en-US" altLang="ja-JP" b="0" dirty="0"/>
          </a:p>
        </p:txBody>
      </p:sp>
      <p:sp>
        <p:nvSpPr>
          <p:cNvPr id="4" name="スライド番号プレースホルダー 3"/>
          <p:cNvSpPr>
            <a:spLocks noGrp="1"/>
          </p:cNvSpPr>
          <p:nvPr>
            <p:ph type="sldNum" sz="quarter" idx="5"/>
          </p:nvPr>
        </p:nvSpPr>
        <p:spPr/>
        <p:txBody>
          <a:bodyPr/>
          <a:lstStyle/>
          <a:p>
            <a:fld id="{0F42E968-90FD-4F25-A217-59DBD6DA5208}" type="slidenum">
              <a:rPr kumimoji="1" lang="ja-JP" altLang="en-US" smtClean="0"/>
              <a:t>9</a:t>
            </a:fld>
            <a:endParaRPr kumimoji="1" lang="ja-JP" altLang="en-US"/>
          </a:p>
        </p:txBody>
      </p:sp>
    </p:spTree>
    <p:extLst>
      <p:ext uri="{BB962C8B-B14F-4D97-AF65-F5344CB8AC3E}">
        <p14:creationId xmlns:p14="http://schemas.microsoft.com/office/powerpoint/2010/main" val="3851297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次に薬局側の流れを説明します。</a:t>
            </a:r>
            <a:endParaRPr lang="en-US" altLang="ja-JP" dirty="0"/>
          </a:p>
          <a:p>
            <a:r>
              <a:rPr lang="ja-JP" altLang="en-US" dirty="0"/>
              <a:t>薬局側では患者の服薬データが</a:t>
            </a:r>
            <a:r>
              <a:rPr lang="ja-JP" altLang="en-US" b="0" dirty="0"/>
              <a:t>リアルタイム</a:t>
            </a:r>
            <a:r>
              <a:rPr lang="ja-JP" altLang="en-US" dirty="0"/>
              <a:t>で管理画面に表示されます。</a:t>
            </a:r>
            <a:endParaRPr lang="en-US" altLang="ja-JP" dirty="0"/>
          </a:p>
          <a:p>
            <a:r>
              <a:rPr lang="ja-JP" altLang="en-US" b="0" i="0" dirty="0"/>
              <a:t>高リスクな患者がすぐわかり、</a:t>
            </a:r>
            <a:r>
              <a:rPr lang="ja-JP" altLang="en-US" dirty="0"/>
              <a:t> 介入すべき患者さんだけを優先的に確認できます。</a:t>
            </a:r>
            <a:endParaRPr lang="en-US" altLang="ja-JP" dirty="0"/>
          </a:p>
          <a:p>
            <a:r>
              <a:rPr lang="ja-JP" altLang="en-US" dirty="0"/>
              <a:t>また飲み忘れ等もすぐわかるため、</a:t>
            </a:r>
            <a:r>
              <a:rPr lang="ja-JP" altLang="en-US" b="0" dirty="0"/>
              <a:t>未然に防ぐ</a:t>
            </a:r>
            <a:r>
              <a:rPr lang="ja-JP" altLang="en-US" dirty="0"/>
              <a:t>ための介入が可能になります。</a:t>
            </a:r>
            <a:endParaRPr lang="en-US" altLang="ja-JP" dirty="0"/>
          </a:p>
          <a:p>
            <a:r>
              <a:rPr lang="ja-JP" altLang="en-US" dirty="0"/>
              <a:t>さらに患者側が記録したデータも見ることができるので服薬状況も確認することができます。</a:t>
            </a:r>
            <a:r>
              <a:rPr lang="en-US" altLang="ja-JP" dirty="0"/>
              <a:t>(</a:t>
            </a:r>
            <a:r>
              <a:rPr lang="ja-JP" altLang="en-US" dirty="0"/>
              <a:t>北田</a:t>
            </a:r>
            <a:r>
              <a:rPr lang="en-US" altLang="ja-JP" dirty="0"/>
              <a:t>)</a:t>
            </a:r>
            <a:endParaRPr kumimoji="1" lang="ja-JP" altLang="en-US" dirty="0"/>
          </a:p>
        </p:txBody>
      </p:sp>
      <p:sp>
        <p:nvSpPr>
          <p:cNvPr id="4" name="スライド番号プレースホルダー 3"/>
          <p:cNvSpPr>
            <a:spLocks noGrp="1"/>
          </p:cNvSpPr>
          <p:nvPr>
            <p:ph type="sldNum" sz="quarter" idx="5"/>
          </p:nvPr>
        </p:nvSpPr>
        <p:spPr/>
        <p:txBody>
          <a:bodyPr/>
          <a:lstStyle/>
          <a:p>
            <a:fld id="{0F42E968-90FD-4F25-A217-59DBD6DA5208}" type="slidenum">
              <a:rPr kumimoji="1" lang="ja-JP" altLang="en-US" smtClean="0"/>
              <a:t>10</a:t>
            </a:fld>
            <a:endParaRPr kumimoji="1" lang="ja-JP" altLang="en-US"/>
          </a:p>
        </p:txBody>
      </p:sp>
    </p:spTree>
    <p:extLst>
      <p:ext uri="{BB962C8B-B14F-4D97-AF65-F5344CB8AC3E}">
        <p14:creationId xmlns:p14="http://schemas.microsoft.com/office/powerpoint/2010/main" val="42680261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次に家族側の流れについて説明します。</a:t>
            </a:r>
            <a:endParaRPr lang="en-US" altLang="ja-JP" dirty="0"/>
          </a:p>
          <a:p>
            <a:r>
              <a:rPr lang="ja-JP" altLang="en-US" dirty="0"/>
              <a:t>家族は自分の見守りアプリで、</a:t>
            </a:r>
            <a:r>
              <a:rPr lang="ja-JP" altLang="en-US" b="0" dirty="0"/>
              <a:t>患者の名前、生年月日、診察券番号を入力します。</a:t>
            </a:r>
            <a:endParaRPr lang="en-US" altLang="ja-JP" b="0" dirty="0"/>
          </a:p>
          <a:p>
            <a:r>
              <a:rPr lang="ja-JP" altLang="en-US" dirty="0"/>
              <a:t>家族が入力した認証情報が、薬局からシステムに登録されている</a:t>
            </a:r>
            <a:r>
              <a:rPr lang="ja-JP" altLang="en-US" b="0" dirty="0"/>
              <a:t>患者の服薬データ</a:t>
            </a:r>
            <a:r>
              <a:rPr lang="ja-JP" altLang="en-US" dirty="0"/>
              <a:t>と一致するかを照合します。例えばこの名前・生年月日・診察券番号はシステムに存在するか？です。</a:t>
            </a:r>
            <a:endParaRPr lang="en-US" altLang="ja-JP" dirty="0"/>
          </a:p>
          <a:p>
            <a:r>
              <a:rPr lang="ja-JP" altLang="en-US" dirty="0"/>
              <a:t>認証が成功した場合連携完了です。</a:t>
            </a:r>
            <a:endParaRPr lang="en-US" altLang="ja-JP" dirty="0"/>
          </a:p>
          <a:p>
            <a:r>
              <a:rPr lang="ja-JP" altLang="en-US" b="0" dirty="0"/>
              <a:t>家族側も薬局側と同様に飲み忘れ等すぐにわかるので未然に防ぐための介入ができます。</a:t>
            </a:r>
            <a:r>
              <a:rPr lang="en-US" altLang="ja-JP" b="0" dirty="0"/>
              <a:t>(</a:t>
            </a:r>
            <a:r>
              <a:rPr lang="ja-JP" altLang="en-US" b="0" dirty="0"/>
              <a:t>北田</a:t>
            </a:r>
            <a:r>
              <a:rPr lang="en-US" altLang="ja-JP" b="0" dirty="0"/>
              <a:t>)</a:t>
            </a:r>
          </a:p>
          <a:p>
            <a:endParaRPr kumimoji="1" lang="ja-JP" altLang="en-US" b="0" dirty="0"/>
          </a:p>
        </p:txBody>
      </p:sp>
      <p:sp>
        <p:nvSpPr>
          <p:cNvPr id="4" name="スライド番号プレースホルダー 3"/>
          <p:cNvSpPr>
            <a:spLocks noGrp="1"/>
          </p:cNvSpPr>
          <p:nvPr>
            <p:ph type="sldNum" sz="quarter" idx="5"/>
          </p:nvPr>
        </p:nvSpPr>
        <p:spPr/>
        <p:txBody>
          <a:bodyPr/>
          <a:lstStyle/>
          <a:p>
            <a:fld id="{0F42E968-90FD-4F25-A217-59DBD6DA5208}" type="slidenum">
              <a:rPr kumimoji="1" lang="ja-JP" altLang="en-US" smtClean="0"/>
              <a:t>11</a:t>
            </a:fld>
            <a:endParaRPr kumimoji="1" lang="ja-JP" altLang="en-US"/>
          </a:p>
        </p:txBody>
      </p:sp>
    </p:spTree>
    <p:extLst>
      <p:ext uri="{BB962C8B-B14F-4D97-AF65-F5344CB8AC3E}">
        <p14:creationId xmlns:p14="http://schemas.microsoft.com/office/powerpoint/2010/main" val="30817556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ja-JP" sz="1200" kern="1200" dirty="0">
                <a:solidFill>
                  <a:schemeClr val="tx1"/>
                </a:solidFill>
                <a:effectLst/>
                <a:latin typeface="+mn-lt"/>
                <a:ea typeface="+mn-ea"/>
                <a:cs typeface="+mn-cs"/>
              </a:rPr>
              <a:t>次に、このシステム全体の構成について簡単にご説明します。</a:t>
            </a:r>
            <a:br>
              <a:rPr kumimoji="1" lang="en-US" altLang="ja-JP" sz="1200" kern="1200" dirty="0">
                <a:solidFill>
                  <a:schemeClr val="tx1"/>
                </a:solidFill>
                <a:effectLst/>
                <a:latin typeface="+mn-lt"/>
                <a:ea typeface="+mn-ea"/>
                <a:cs typeface="+mn-cs"/>
              </a:rPr>
            </a:br>
            <a:r>
              <a:rPr kumimoji="1" lang="ja-JP" altLang="ja-JP" sz="1200" kern="1200" dirty="0">
                <a:solidFill>
                  <a:schemeClr val="tx1"/>
                </a:solidFill>
                <a:effectLst/>
                <a:latin typeface="+mn-lt"/>
                <a:ea typeface="+mn-ea"/>
                <a:cs typeface="+mn-cs"/>
              </a:rPr>
              <a:t>今回の服薬管理システムは、</a:t>
            </a:r>
            <a:r>
              <a:rPr kumimoji="1" lang="ja-JP" altLang="ja-JP" sz="1200" b="0" kern="1200" dirty="0">
                <a:solidFill>
                  <a:schemeClr val="tx1"/>
                </a:solidFill>
                <a:effectLst/>
                <a:latin typeface="+mn-lt"/>
                <a:ea typeface="+mn-ea"/>
                <a:cs typeface="+mn-cs"/>
              </a:rPr>
              <a:t>フロントエンド・バックエンド・データベース</a:t>
            </a:r>
            <a:r>
              <a:rPr kumimoji="1" lang="ja-JP" altLang="ja-JP" sz="1200" kern="1200" dirty="0">
                <a:solidFill>
                  <a:schemeClr val="tx1"/>
                </a:solidFill>
                <a:effectLst/>
                <a:latin typeface="+mn-lt"/>
                <a:ea typeface="+mn-ea"/>
                <a:cs typeface="+mn-cs"/>
              </a:rPr>
              <a:t>という</a:t>
            </a:r>
            <a:br>
              <a:rPr kumimoji="1" lang="en-US" altLang="ja-JP" sz="1200" kern="1200" dirty="0">
                <a:solidFill>
                  <a:schemeClr val="tx1"/>
                </a:solidFill>
                <a:effectLst/>
                <a:latin typeface="+mn-lt"/>
                <a:ea typeface="+mn-ea"/>
                <a:cs typeface="+mn-cs"/>
              </a:rPr>
            </a:br>
            <a:r>
              <a:rPr kumimoji="1" lang="en-US" altLang="ja-JP" sz="1200" kern="1200" dirty="0">
                <a:solidFill>
                  <a:schemeClr val="tx1"/>
                </a:solidFill>
                <a:effectLst/>
                <a:latin typeface="+mn-lt"/>
                <a:ea typeface="+mn-ea"/>
                <a:cs typeface="+mn-cs"/>
              </a:rPr>
              <a:t>3</a:t>
            </a:r>
            <a:r>
              <a:rPr kumimoji="1" lang="ja-JP" altLang="ja-JP" sz="1200" kern="1200" dirty="0" err="1">
                <a:solidFill>
                  <a:schemeClr val="tx1"/>
                </a:solidFill>
                <a:effectLst/>
                <a:latin typeface="+mn-lt"/>
                <a:ea typeface="+mn-ea"/>
                <a:cs typeface="+mn-cs"/>
              </a:rPr>
              <a:t>つの</a:t>
            </a:r>
            <a:r>
              <a:rPr kumimoji="1" lang="ja-JP" altLang="ja-JP" sz="1200" kern="1200" dirty="0">
                <a:solidFill>
                  <a:schemeClr val="tx1"/>
                </a:solidFill>
                <a:effectLst/>
                <a:latin typeface="+mn-lt"/>
                <a:ea typeface="+mn-ea"/>
                <a:cs typeface="+mn-cs"/>
              </a:rPr>
              <a:t>層に分かれています。</a:t>
            </a:r>
            <a:endParaRPr kumimoji="1" lang="en-US" altLang="ja-JP"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ja-JP" sz="1200" kern="1200" dirty="0">
                <a:solidFill>
                  <a:schemeClr val="tx1"/>
                </a:solidFill>
                <a:effectLst/>
                <a:latin typeface="+mn-lt"/>
                <a:ea typeface="+mn-ea"/>
                <a:cs typeface="+mn-cs"/>
              </a:rPr>
              <a:t>まず一番上にあるのが、</a:t>
            </a:r>
            <a:r>
              <a:rPr kumimoji="1" lang="ja-JP" altLang="ja-JP" sz="1200" b="0" kern="1200" dirty="0">
                <a:solidFill>
                  <a:schemeClr val="tx1"/>
                </a:solidFill>
                <a:effectLst/>
                <a:latin typeface="+mn-lt"/>
                <a:ea typeface="+mn-ea"/>
                <a:cs typeface="+mn-cs"/>
              </a:rPr>
              <a:t>フロントエンド</a:t>
            </a:r>
            <a:r>
              <a:rPr kumimoji="1" lang="ja-JP" altLang="ja-JP" sz="1200" kern="1200" dirty="0">
                <a:solidFill>
                  <a:schemeClr val="tx1"/>
                </a:solidFill>
                <a:effectLst/>
                <a:latin typeface="+mn-lt"/>
                <a:ea typeface="+mn-ea"/>
                <a:cs typeface="+mn-cs"/>
              </a:rPr>
              <a:t>です。</a:t>
            </a:r>
            <a:r>
              <a:rPr kumimoji="1" lang="ja-JP" altLang="en-US" sz="1200" kern="1200" dirty="0">
                <a:solidFill>
                  <a:schemeClr val="tx1"/>
                </a:solidFill>
                <a:effectLst/>
                <a:latin typeface="+mn-lt"/>
                <a:ea typeface="+mn-ea"/>
                <a:cs typeface="+mn-cs"/>
              </a:rPr>
              <a:t>写真連携、家族または薬局が見れるダッシュボード</a:t>
            </a:r>
            <a:endParaRPr kumimoji="1" lang="en-US" altLang="ja-JP"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kern="1200" dirty="0">
                <a:solidFill>
                  <a:schemeClr val="tx1"/>
                </a:solidFill>
                <a:effectLst/>
                <a:latin typeface="+mn-lt"/>
                <a:ea typeface="+mn-ea"/>
                <a:cs typeface="+mn-cs"/>
              </a:rPr>
              <a:t>つぎにバックエンド、</a:t>
            </a:r>
            <a:r>
              <a:rPr lang="ja-JP" altLang="en-US" dirty="0"/>
              <a:t>服薬ログ、処方箋情報の</a:t>
            </a:r>
            <a:r>
              <a:rPr lang="ja-JP" altLang="en-US" b="0" dirty="0"/>
              <a:t>一元管理を行います。</a:t>
            </a:r>
            <a:r>
              <a:rPr lang="en-US" altLang="ja-JP" b="0" dirty="0"/>
              <a:t>(</a:t>
            </a:r>
            <a:r>
              <a:rPr lang="ja-JP" altLang="en-US" b="0" dirty="0"/>
              <a:t>高橋</a:t>
            </a:r>
            <a:r>
              <a:rPr lang="en-US" altLang="ja-JP" b="0" dirty="0"/>
              <a:t>)</a:t>
            </a:r>
            <a:endParaRPr kumimoji="1" lang="en-US" altLang="ja-JP"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ja-JP" sz="1200" kern="1200" dirty="0">
              <a:solidFill>
                <a:schemeClr val="tx1"/>
              </a:solidFill>
              <a:effectLst/>
              <a:latin typeface="+mn-lt"/>
              <a:ea typeface="+mn-ea"/>
              <a:cs typeface="+mn-cs"/>
            </a:endParaRPr>
          </a:p>
        </p:txBody>
      </p:sp>
      <p:sp>
        <p:nvSpPr>
          <p:cNvPr id="4" name="スライド番号プレースホルダー 3"/>
          <p:cNvSpPr>
            <a:spLocks noGrp="1"/>
          </p:cNvSpPr>
          <p:nvPr>
            <p:ph type="sldNum" sz="quarter" idx="5"/>
          </p:nvPr>
        </p:nvSpPr>
        <p:spPr/>
        <p:txBody>
          <a:bodyPr/>
          <a:lstStyle/>
          <a:p>
            <a:fld id="{0F42E968-90FD-4F25-A217-59DBD6DA5208}" type="slidenum">
              <a:rPr kumimoji="1" lang="ja-JP" altLang="en-US" smtClean="0"/>
              <a:t>12</a:t>
            </a:fld>
            <a:endParaRPr kumimoji="1" lang="ja-JP" altLang="en-US"/>
          </a:p>
        </p:txBody>
      </p:sp>
    </p:spTree>
    <p:extLst>
      <p:ext uri="{BB962C8B-B14F-4D97-AF65-F5344CB8AC3E}">
        <p14:creationId xmlns:p14="http://schemas.microsoft.com/office/powerpoint/2010/main" val="40872044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技術構成は次の通りです。</a:t>
            </a:r>
            <a:endParaRPr kumimoji="1" lang="en-US" altLang="ja-JP" dirty="0"/>
          </a:p>
          <a:p>
            <a:r>
              <a:rPr kumimoji="1" lang="ja-JP" altLang="en-US" dirty="0"/>
              <a:t>フロントエンドに</a:t>
            </a:r>
            <a:r>
              <a:rPr kumimoji="1" lang="en-US" altLang="ja-JP" dirty="0" err="1"/>
              <a:t>HTML,CSS,JavaScript</a:t>
            </a:r>
            <a:r>
              <a:rPr kumimoji="1" lang="ja-JP" altLang="en-US" dirty="0"/>
              <a:t>を活用しています。</a:t>
            </a:r>
            <a:endParaRPr kumimoji="1" lang="en-US" altLang="ja-JP" dirty="0"/>
          </a:p>
          <a:p>
            <a:r>
              <a:rPr kumimoji="1" lang="ja-JP" altLang="en-US" dirty="0"/>
              <a:t>バックエンドは</a:t>
            </a:r>
            <a:r>
              <a:rPr kumimoji="1" lang="en-US" altLang="ja-JP" dirty="0"/>
              <a:t>PHP</a:t>
            </a:r>
            <a:r>
              <a:rPr kumimoji="1" lang="ja-JP" altLang="en-US" dirty="0"/>
              <a:t>を活用しています。</a:t>
            </a:r>
            <a:endParaRPr kumimoji="1" lang="en-US" altLang="ja-JP" dirty="0"/>
          </a:p>
          <a:p>
            <a:r>
              <a:rPr kumimoji="1" lang="ja-JP" altLang="en-US" dirty="0"/>
              <a:t>データベースは</a:t>
            </a:r>
            <a:r>
              <a:rPr kumimoji="1" lang="en-US" altLang="ja-JP" dirty="0" err="1"/>
              <a:t>phpMyadmin</a:t>
            </a:r>
            <a:r>
              <a:rPr kumimoji="1" lang="ja-JP" altLang="en-US" dirty="0"/>
              <a:t>を活用しています。</a:t>
            </a:r>
            <a:endParaRPr kumimoji="1" lang="en-US" altLang="ja-JP" dirty="0"/>
          </a:p>
          <a:p>
            <a:r>
              <a:rPr kumimoji="1" lang="ja-JP" altLang="en-US" dirty="0"/>
              <a:t>稼働環境は</a:t>
            </a:r>
            <a:r>
              <a:rPr kumimoji="1" lang="en-US" altLang="ja-JP" dirty="0" err="1"/>
              <a:t>xampp,web</a:t>
            </a:r>
            <a:r>
              <a:rPr kumimoji="1" lang="ja-JP" altLang="en-US" dirty="0"/>
              <a:t>サーバーです。</a:t>
            </a:r>
            <a:endParaRPr kumimoji="1" lang="en-US" altLang="ja-JP" dirty="0"/>
          </a:p>
          <a:p>
            <a:r>
              <a:rPr kumimoji="1" lang="en-US" altLang="ja-JP" dirty="0"/>
              <a:t>API</a:t>
            </a:r>
            <a:r>
              <a:rPr kumimoji="1" lang="ja-JP" altLang="en-US" dirty="0"/>
              <a:t>は</a:t>
            </a:r>
            <a:r>
              <a:rPr kumimoji="1" lang="en-US" altLang="ja-JP" dirty="0" err="1"/>
              <a:t>Everypixel</a:t>
            </a:r>
            <a:r>
              <a:rPr kumimoji="1" lang="ja-JP" altLang="en-US" dirty="0"/>
              <a:t>という画像認識</a:t>
            </a:r>
            <a:r>
              <a:rPr kumimoji="1" lang="en-US" altLang="ja-JP" dirty="0" err="1"/>
              <a:t>api</a:t>
            </a:r>
            <a:r>
              <a:rPr kumimoji="1" lang="ja-JP" altLang="en-US" dirty="0"/>
              <a:t>を使っています。</a:t>
            </a:r>
            <a:endParaRPr kumimoji="1" lang="en-US" altLang="ja-JP" dirty="0"/>
          </a:p>
          <a:p>
            <a:r>
              <a:rPr kumimoji="1" lang="ja-JP" altLang="en-US" dirty="0"/>
              <a:t>バージョン管理は</a:t>
            </a:r>
            <a:r>
              <a:rPr kumimoji="1" lang="en-US" altLang="ja-JP" dirty="0" err="1"/>
              <a:t>github</a:t>
            </a:r>
            <a:r>
              <a:rPr kumimoji="1" lang="ja-JP" altLang="en-US" dirty="0"/>
              <a:t>で行っています。</a:t>
            </a:r>
            <a:r>
              <a:rPr kumimoji="1" lang="en-US" altLang="ja-JP" dirty="0"/>
              <a:t>(</a:t>
            </a:r>
            <a:r>
              <a:rPr kumimoji="1" lang="ja-JP" altLang="en-US" dirty="0"/>
              <a:t>高橋</a:t>
            </a:r>
            <a:r>
              <a:rPr kumimoji="1" lang="en-US" altLang="ja-JP" dirty="0"/>
              <a:t>)</a:t>
            </a:r>
          </a:p>
          <a:p>
            <a:endParaRPr kumimoji="1" lang="en-US"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fld id="{0F42E968-90FD-4F25-A217-59DBD6DA5208}" type="slidenum">
              <a:rPr kumimoji="1" lang="ja-JP" altLang="en-US" smtClean="0"/>
              <a:t>13</a:t>
            </a:fld>
            <a:endParaRPr kumimoji="1" lang="ja-JP" altLang="en-US"/>
          </a:p>
        </p:txBody>
      </p:sp>
    </p:spTree>
    <p:extLst>
      <p:ext uri="{BB962C8B-B14F-4D97-AF65-F5344CB8AC3E}">
        <p14:creationId xmlns:p14="http://schemas.microsoft.com/office/powerpoint/2010/main" val="22940713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ja-JP" sz="1200" kern="1200" dirty="0">
                <a:solidFill>
                  <a:schemeClr val="tx1"/>
                </a:solidFill>
                <a:effectLst/>
                <a:latin typeface="+mn-lt"/>
                <a:ea typeface="+mn-ea"/>
                <a:cs typeface="+mn-cs"/>
              </a:rPr>
              <a:t>効果、展望です</a:t>
            </a:r>
          </a:p>
          <a:p>
            <a:r>
              <a:rPr kumimoji="1" lang="ja-JP" altLang="ja-JP" sz="1200" kern="1200" dirty="0">
                <a:solidFill>
                  <a:schemeClr val="tx1"/>
                </a:solidFill>
                <a:effectLst/>
                <a:latin typeface="+mn-lt"/>
                <a:ea typeface="+mn-ea"/>
                <a:cs typeface="+mn-cs"/>
              </a:rPr>
              <a:t>この仕組みが実現すると、まず薬局の負担が大幅に減ります。</a:t>
            </a:r>
            <a:br>
              <a:rPr kumimoji="1" lang="en-US" altLang="ja-JP" sz="1200" kern="1200" dirty="0">
                <a:solidFill>
                  <a:schemeClr val="tx1"/>
                </a:solidFill>
                <a:effectLst/>
                <a:latin typeface="+mn-lt"/>
                <a:ea typeface="+mn-ea"/>
                <a:cs typeface="+mn-cs"/>
              </a:rPr>
            </a:br>
            <a:r>
              <a:rPr kumimoji="1" lang="ja-JP" altLang="ja-JP" sz="1200" kern="1200" dirty="0">
                <a:solidFill>
                  <a:schemeClr val="tx1"/>
                </a:solidFill>
                <a:effectLst/>
                <a:latin typeface="+mn-lt"/>
                <a:ea typeface="+mn-ea"/>
                <a:cs typeface="+mn-cs"/>
              </a:rPr>
              <a:t>患者さんの服薬状況が可視化されるため、わざわざ電話で確認したり、</a:t>
            </a:r>
            <a:br>
              <a:rPr kumimoji="1" lang="en-US" altLang="ja-JP" sz="1200" kern="1200" dirty="0">
                <a:solidFill>
                  <a:schemeClr val="tx1"/>
                </a:solidFill>
                <a:effectLst/>
                <a:latin typeface="+mn-lt"/>
                <a:ea typeface="+mn-ea"/>
                <a:cs typeface="+mn-cs"/>
              </a:rPr>
            </a:br>
            <a:r>
              <a:rPr kumimoji="1" lang="en-US" altLang="ja-JP" sz="1200" kern="1200" dirty="0">
                <a:solidFill>
                  <a:schemeClr val="tx1"/>
                </a:solidFill>
                <a:effectLst/>
                <a:latin typeface="+mn-lt"/>
                <a:ea typeface="+mn-ea"/>
                <a:cs typeface="+mn-cs"/>
              </a:rPr>
              <a:t>“</a:t>
            </a:r>
            <a:r>
              <a:rPr kumimoji="1" lang="ja-JP" altLang="ja-JP" sz="1200" kern="1200" dirty="0">
                <a:solidFill>
                  <a:schemeClr val="tx1"/>
                </a:solidFill>
                <a:effectLst/>
                <a:latin typeface="+mn-lt"/>
                <a:ea typeface="+mn-ea"/>
                <a:cs typeface="+mn-cs"/>
              </a:rPr>
              <a:t>飲めているか分からない</a:t>
            </a:r>
            <a:r>
              <a:rPr kumimoji="1" lang="en-US" altLang="ja-JP" sz="1200" kern="1200" dirty="0">
                <a:solidFill>
                  <a:schemeClr val="tx1"/>
                </a:solidFill>
                <a:effectLst/>
                <a:latin typeface="+mn-lt"/>
                <a:ea typeface="+mn-ea"/>
                <a:cs typeface="+mn-cs"/>
              </a:rPr>
              <a:t>”</a:t>
            </a:r>
            <a:r>
              <a:rPr kumimoji="1" lang="ja-JP" altLang="ja-JP" sz="1200" kern="1200" dirty="0">
                <a:solidFill>
                  <a:schemeClr val="tx1"/>
                </a:solidFill>
                <a:effectLst/>
                <a:latin typeface="+mn-lt"/>
                <a:ea typeface="+mn-ea"/>
                <a:cs typeface="+mn-cs"/>
              </a:rPr>
              <a:t>状態でフォローする必要がなくなるからです。</a:t>
            </a:r>
          </a:p>
          <a:p>
            <a:r>
              <a:rPr kumimoji="1" lang="ja-JP" altLang="ja-JP" sz="1200" kern="1200" dirty="0">
                <a:solidFill>
                  <a:schemeClr val="tx1"/>
                </a:solidFill>
                <a:effectLst/>
                <a:latin typeface="+mn-lt"/>
                <a:ea typeface="+mn-ea"/>
                <a:cs typeface="+mn-cs"/>
              </a:rPr>
              <a:t>さらに、飲み忘れによる病状悪化や再入院のリスクが下がることで、</a:t>
            </a:r>
            <a:br>
              <a:rPr kumimoji="1" lang="en-US" altLang="ja-JP" sz="1200" kern="1200" dirty="0">
                <a:solidFill>
                  <a:schemeClr val="tx1"/>
                </a:solidFill>
                <a:effectLst/>
                <a:latin typeface="+mn-lt"/>
                <a:ea typeface="+mn-ea"/>
                <a:cs typeface="+mn-cs"/>
              </a:rPr>
            </a:br>
            <a:r>
              <a:rPr kumimoji="1" lang="ja-JP" altLang="ja-JP" sz="1200" kern="1200" dirty="0">
                <a:solidFill>
                  <a:schemeClr val="tx1"/>
                </a:solidFill>
                <a:effectLst/>
                <a:latin typeface="+mn-lt"/>
                <a:ea typeface="+mn-ea"/>
                <a:cs typeface="+mn-cs"/>
              </a:rPr>
              <a:t>医療費全体の削減にもつながります。</a:t>
            </a:r>
            <a:br>
              <a:rPr kumimoji="1" lang="en-US" altLang="ja-JP" sz="1200" kern="1200" dirty="0">
                <a:solidFill>
                  <a:schemeClr val="tx1"/>
                </a:solidFill>
                <a:effectLst/>
                <a:latin typeface="+mn-lt"/>
                <a:ea typeface="+mn-ea"/>
                <a:cs typeface="+mn-cs"/>
              </a:rPr>
            </a:br>
            <a:r>
              <a:rPr kumimoji="1" lang="ja-JP" altLang="ja-JP" sz="1200" kern="1200" dirty="0">
                <a:solidFill>
                  <a:schemeClr val="tx1"/>
                </a:solidFill>
                <a:effectLst/>
                <a:latin typeface="+mn-lt"/>
                <a:ea typeface="+mn-ea"/>
                <a:cs typeface="+mn-cs"/>
              </a:rPr>
              <a:t>これは患者さん個人だけではなく、医療保険や社会全体にとって大きなメリットになります。</a:t>
            </a:r>
          </a:p>
          <a:p>
            <a:r>
              <a:rPr kumimoji="1" lang="ja-JP" altLang="ja-JP" sz="1200" kern="1200" dirty="0">
                <a:solidFill>
                  <a:schemeClr val="tx1"/>
                </a:solidFill>
                <a:effectLst/>
                <a:latin typeface="+mn-lt"/>
                <a:ea typeface="+mn-ea"/>
                <a:cs typeface="+mn-cs"/>
              </a:rPr>
              <a:t>また、この仕組みは単なるアプリではなく、</a:t>
            </a:r>
            <a:br>
              <a:rPr kumimoji="1" lang="en-US" altLang="ja-JP" sz="1200" kern="1200" dirty="0">
                <a:solidFill>
                  <a:schemeClr val="tx1"/>
                </a:solidFill>
                <a:effectLst/>
                <a:latin typeface="+mn-lt"/>
                <a:ea typeface="+mn-ea"/>
                <a:cs typeface="+mn-cs"/>
              </a:rPr>
            </a:br>
            <a:r>
              <a:rPr kumimoji="1" lang="ja-JP" altLang="ja-JP" sz="1200" kern="1200" dirty="0">
                <a:solidFill>
                  <a:schemeClr val="tx1"/>
                </a:solidFill>
                <a:effectLst/>
                <a:latin typeface="+mn-lt"/>
                <a:ea typeface="+mn-ea"/>
                <a:cs typeface="+mn-cs"/>
              </a:rPr>
              <a:t>『見える化』と『継続支援』を組み合わせることで、</a:t>
            </a:r>
            <a:br>
              <a:rPr kumimoji="1" lang="en-US" altLang="ja-JP" sz="1200" kern="1200" dirty="0">
                <a:solidFill>
                  <a:schemeClr val="tx1"/>
                </a:solidFill>
                <a:effectLst/>
                <a:latin typeface="+mn-lt"/>
                <a:ea typeface="+mn-ea"/>
                <a:cs typeface="+mn-cs"/>
              </a:rPr>
            </a:br>
            <a:r>
              <a:rPr kumimoji="1" lang="ja-JP" altLang="ja-JP" sz="1200" kern="1200" dirty="0">
                <a:solidFill>
                  <a:schemeClr val="tx1"/>
                </a:solidFill>
                <a:effectLst/>
                <a:latin typeface="+mn-lt"/>
                <a:ea typeface="+mn-ea"/>
                <a:cs typeface="+mn-cs"/>
              </a:rPr>
              <a:t>患者さんの健康維持と薬局の業務効率化を同時に実現できる点が特徴です。</a:t>
            </a:r>
            <a:r>
              <a:rPr kumimoji="1" lang="en-US" altLang="ja-JP" sz="1200" kern="1200" dirty="0">
                <a:solidFill>
                  <a:schemeClr val="tx1"/>
                </a:solidFill>
                <a:effectLst/>
                <a:latin typeface="+mn-lt"/>
                <a:ea typeface="+mn-ea"/>
                <a:cs typeface="+mn-cs"/>
              </a:rPr>
              <a:t>(</a:t>
            </a:r>
            <a:r>
              <a:rPr kumimoji="1" lang="ja-JP" altLang="ja-JP" sz="1200" kern="1200" dirty="0">
                <a:solidFill>
                  <a:schemeClr val="tx1"/>
                </a:solidFill>
                <a:effectLst/>
                <a:latin typeface="+mn-lt"/>
                <a:ea typeface="+mn-ea"/>
                <a:cs typeface="+mn-cs"/>
              </a:rPr>
              <a:t>高橋</a:t>
            </a:r>
            <a:r>
              <a:rPr kumimoji="1" lang="en-US" altLang="ja-JP" sz="1200" kern="1200" dirty="0">
                <a:solidFill>
                  <a:schemeClr val="tx1"/>
                </a:solidFill>
                <a:effectLst/>
                <a:latin typeface="+mn-lt"/>
                <a:ea typeface="+mn-ea"/>
                <a:cs typeface="+mn-cs"/>
              </a:rPr>
              <a:t>)</a:t>
            </a:r>
            <a:endParaRPr kumimoji="1" lang="ja-JP" altLang="ja-JP" sz="1200" kern="1200" dirty="0">
              <a:solidFill>
                <a:schemeClr val="tx1"/>
              </a:solidFill>
              <a:effectLst/>
              <a:latin typeface="+mn-lt"/>
              <a:ea typeface="+mn-ea"/>
              <a:cs typeface="+mn-cs"/>
            </a:endParaRPr>
          </a:p>
          <a:p>
            <a:endParaRPr kumimoji="1" lang="ja-JP" altLang="en-US" dirty="0"/>
          </a:p>
        </p:txBody>
      </p:sp>
      <p:sp>
        <p:nvSpPr>
          <p:cNvPr id="4" name="スライド番号プレースホルダー 3"/>
          <p:cNvSpPr>
            <a:spLocks noGrp="1"/>
          </p:cNvSpPr>
          <p:nvPr>
            <p:ph type="sldNum" sz="quarter" idx="5"/>
          </p:nvPr>
        </p:nvSpPr>
        <p:spPr/>
        <p:txBody>
          <a:bodyPr/>
          <a:lstStyle/>
          <a:p>
            <a:fld id="{0F42E968-90FD-4F25-A217-59DBD6DA5208}" type="slidenum">
              <a:rPr kumimoji="1" lang="ja-JP" altLang="en-US" smtClean="0"/>
              <a:t>14</a:t>
            </a:fld>
            <a:endParaRPr kumimoji="1" lang="ja-JP" altLang="en-US"/>
          </a:p>
        </p:txBody>
      </p:sp>
    </p:spTree>
    <p:extLst>
      <p:ext uri="{BB962C8B-B14F-4D97-AF65-F5344CB8AC3E}">
        <p14:creationId xmlns:p14="http://schemas.microsoft.com/office/powerpoint/2010/main" val="29403387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US" altLang="ja-JP" dirty="0"/>
              <a:t>1</a:t>
            </a:r>
            <a:r>
              <a:rPr lang="ja-JP" altLang="en-US" dirty="0"/>
              <a:t>つ目は、</a:t>
            </a:r>
            <a:r>
              <a:rPr lang="en-US" altLang="ja-JP" b="0" dirty="0"/>
              <a:t>『</a:t>
            </a:r>
            <a:r>
              <a:rPr lang="ja-JP" altLang="en-US" b="0" dirty="0"/>
              <a:t>撮りっぱなしにさせない</a:t>
            </a:r>
            <a:r>
              <a:rPr lang="en-US" altLang="ja-JP" b="0" dirty="0"/>
              <a:t>』</a:t>
            </a:r>
            <a:r>
              <a:rPr lang="ja-JP" altLang="en-US" b="0" dirty="0"/>
              <a:t>ためのリアルタイム判定</a:t>
            </a:r>
            <a:r>
              <a:rPr lang="ja-JP" altLang="en-US" dirty="0"/>
              <a:t>です。 従来の管理アプリは写真を保存するだけのものでしたが、本システムでは </a:t>
            </a:r>
            <a:r>
              <a:rPr lang="en-US" altLang="ja-JP" dirty="0" err="1"/>
              <a:t>Everypixel</a:t>
            </a:r>
            <a:r>
              <a:rPr lang="en-US" altLang="ja-JP" dirty="0"/>
              <a:t> API </a:t>
            </a:r>
            <a:r>
              <a:rPr lang="ja-JP" altLang="en-US" dirty="0"/>
              <a:t>という画像認識</a:t>
            </a:r>
            <a:r>
              <a:rPr lang="en-US" altLang="ja-JP" dirty="0"/>
              <a:t>AI</a:t>
            </a:r>
            <a:r>
              <a:rPr lang="ja-JP" altLang="en-US" dirty="0"/>
              <a:t>を連携させました。 ユーザーがお薬を撮影した瞬間に、</a:t>
            </a:r>
            <a:r>
              <a:rPr lang="en-US" altLang="ja-JP" dirty="0"/>
              <a:t>AI</a:t>
            </a:r>
            <a:r>
              <a:rPr lang="ja-JP" altLang="en-US" dirty="0"/>
              <a:t>が画像内に</a:t>
            </a:r>
            <a:r>
              <a:rPr lang="en-US" altLang="ja-JP" dirty="0"/>
              <a:t>『</a:t>
            </a:r>
            <a:r>
              <a:rPr lang="ja-JP" altLang="en-US" dirty="0"/>
              <a:t>錠剤やカプセル</a:t>
            </a:r>
            <a:r>
              <a:rPr lang="en-US" altLang="ja-JP" dirty="0"/>
              <a:t>』</a:t>
            </a:r>
            <a:r>
              <a:rPr lang="ja-JP" altLang="en-US" dirty="0"/>
              <a:t>があるかを自動判別します。その場で</a:t>
            </a:r>
            <a:r>
              <a:rPr lang="en-US" altLang="ja-JP" dirty="0"/>
              <a:t>『</a:t>
            </a:r>
            <a:r>
              <a:rPr lang="ja-JP" altLang="en-US" dirty="0"/>
              <a:t>お薬を確認しました</a:t>
            </a:r>
            <a:r>
              <a:rPr lang="en-US" altLang="ja-JP" dirty="0"/>
              <a:t>』</a:t>
            </a:r>
            <a:r>
              <a:rPr lang="ja-JP" altLang="en-US" dirty="0"/>
              <a:t>というフィードバックを出すことで、飲み間違いや、空のコップだけを撮るといったミスを未然に防ぐ仕組みを構築しました。</a:t>
            </a:r>
            <a:endParaRPr lang="en-US" altLang="ja-JP" dirty="0"/>
          </a:p>
          <a:p>
            <a:r>
              <a:rPr lang="en-US" altLang="ja-JP" dirty="0"/>
              <a:t>2</a:t>
            </a:r>
            <a:r>
              <a:rPr lang="ja-JP" altLang="en-US" dirty="0"/>
              <a:t>つ目は、</a:t>
            </a:r>
            <a:r>
              <a:rPr lang="ja-JP" altLang="en-US" b="0" dirty="0"/>
              <a:t>開発のトラブルに対する柔軟な対応</a:t>
            </a:r>
            <a:r>
              <a:rPr lang="ja-JP" altLang="en-US" dirty="0"/>
              <a:t>です。 当初は </a:t>
            </a:r>
            <a:r>
              <a:rPr lang="en-US" altLang="ja-JP" dirty="0"/>
              <a:t>Google </a:t>
            </a:r>
            <a:r>
              <a:rPr lang="ja-JP" altLang="en-US" dirty="0"/>
              <a:t>の </a:t>
            </a:r>
            <a:r>
              <a:rPr lang="en-US" altLang="ja-JP" dirty="0"/>
              <a:t>Gemini API </a:t>
            </a:r>
            <a:r>
              <a:rPr lang="ja-JP" altLang="en-US" dirty="0"/>
              <a:t>を使った高度な解析を予定していましたが、地域制限や接続エラーといった技術的な壁に直面しました。 そこで、技術に固執するのではなく</a:t>
            </a:r>
            <a:r>
              <a:rPr lang="en-US" altLang="ja-JP" dirty="0"/>
              <a:t>『</a:t>
            </a:r>
            <a:r>
              <a:rPr lang="ja-JP" altLang="en-US" dirty="0"/>
              <a:t>システムを安定して動かすこと</a:t>
            </a:r>
            <a:r>
              <a:rPr lang="en-US" altLang="ja-JP" dirty="0"/>
              <a:t>』</a:t>
            </a:r>
            <a:r>
              <a:rPr lang="ja-JP" altLang="en-US" dirty="0"/>
              <a:t>を最優先し、迅速に </a:t>
            </a:r>
            <a:r>
              <a:rPr lang="en-US" altLang="ja-JP" dirty="0" err="1"/>
              <a:t>Everypixel</a:t>
            </a:r>
            <a:r>
              <a:rPr lang="en-US" altLang="ja-JP" dirty="0"/>
              <a:t> API </a:t>
            </a:r>
            <a:r>
              <a:rPr lang="ja-JP" altLang="en-US" dirty="0" err="1"/>
              <a:t>への</a:t>
            </a:r>
            <a:r>
              <a:rPr lang="ja-JP" altLang="en-US" dirty="0"/>
              <a:t>切り替えを判断しました。結果として、レスポンスが速く、かつ正確に動作する堅牢なシステムを完成させることができました。</a:t>
            </a:r>
            <a:endParaRPr lang="en-US" altLang="ja-JP" dirty="0"/>
          </a:p>
          <a:p>
            <a:r>
              <a:rPr lang="en-US" altLang="ja-JP" dirty="0"/>
              <a:t>3</a:t>
            </a:r>
            <a:r>
              <a:rPr lang="ja-JP" altLang="en-US" dirty="0"/>
              <a:t>つ目は、</a:t>
            </a:r>
            <a:r>
              <a:rPr lang="ja-JP" altLang="en-US" b="0" dirty="0"/>
              <a:t>迷わせないための</a:t>
            </a:r>
            <a:r>
              <a:rPr lang="en-US" altLang="ja-JP" b="0" dirty="0"/>
              <a:t>UI/UX</a:t>
            </a:r>
            <a:r>
              <a:rPr lang="ja-JP" altLang="en-US" b="0" dirty="0"/>
              <a:t>設計</a:t>
            </a:r>
            <a:r>
              <a:rPr lang="ja-JP" altLang="en-US" dirty="0"/>
              <a:t>です。 ターゲットにはデジタル機器に不慣れなお年寄りも含まれるため、操作を</a:t>
            </a:r>
            <a:r>
              <a:rPr lang="en-US" altLang="ja-JP" dirty="0"/>
              <a:t>『</a:t>
            </a:r>
            <a:r>
              <a:rPr lang="ja-JP" altLang="en-US" dirty="0"/>
              <a:t>カメラ起動から撮影</a:t>
            </a:r>
            <a:r>
              <a:rPr lang="en-US" altLang="ja-JP" dirty="0"/>
              <a:t>』</a:t>
            </a:r>
            <a:r>
              <a:rPr lang="ja-JP" altLang="en-US" dirty="0" err="1"/>
              <a:t>までの</a:t>
            </a:r>
            <a:r>
              <a:rPr lang="ja-JP" altLang="en-US" dirty="0"/>
              <a:t>最少ステップに絞り込みました。 また、判定結果を文字だけでなく</a:t>
            </a:r>
            <a:r>
              <a:rPr lang="en-US" altLang="ja-JP" dirty="0"/>
              <a:t>『</a:t>
            </a:r>
            <a:r>
              <a:rPr lang="ja-JP" altLang="en-US" dirty="0"/>
              <a:t>青と赤のバッジ</a:t>
            </a:r>
            <a:r>
              <a:rPr lang="en-US" altLang="ja-JP" dirty="0"/>
              <a:t>』</a:t>
            </a:r>
            <a:r>
              <a:rPr lang="ja-JP" altLang="en-US" dirty="0"/>
              <a:t>で視覚的に色分けすることで、一目で状況が伝わる直感的なインターフェースを追求しました。</a:t>
            </a:r>
            <a:r>
              <a:rPr lang="en-US" altLang="ja-JP" dirty="0"/>
              <a:t>(</a:t>
            </a:r>
            <a:r>
              <a:rPr lang="ja-JP" altLang="en-US" dirty="0"/>
              <a:t>高橋</a:t>
            </a:r>
            <a:r>
              <a:rPr lang="en-US" altLang="ja-JP" dirty="0"/>
              <a:t>)</a:t>
            </a:r>
            <a:endParaRPr kumimoji="1" lang="ja-JP" altLang="en-US" dirty="0"/>
          </a:p>
        </p:txBody>
      </p:sp>
      <p:sp>
        <p:nvSpPr>
          <p:cNvPr id="4" name="スライド番号プレースホルダー 3"/>
          <p:cNvSpPr>
            <a:spLocks noGrp="1"/>
          </p:cNvSpPr>
          <p:nvPr>
            <p:ph type="sldNum" sz="quarter" idx="5"/>
          </p:nvPr>
        </p:nvSpPr>
        <p:spPr/>
        <p:txBody>
          <a:bodyPr/>
          <a:lstStyle/>
          <a:p>
            <a:fld id="{0F42E968-90FD-4F25-A217-59DBD6DA5208}" type="slidenum">
              <a:rPr kumimoji="1" lang="ja-JP" altLang="en-US" smtClean="0"/>
              <a:t>15</a:t>
            </a:fld>
            <a:endParaRPr kumimoji="1" lang="ja-JP" altLang="en-US"/>
          </a:p>
        </p:txBody>
      </p:sp>
    </p:spTree>
    <p:extLst>
      <p:ext uri="{BB962C8B-B14F-4D97-AF65-F5344CB8AC3E}">
        <p14:creationId xmlns:p14="http://schemas.microsoft.com/office/powerpoint/2010/main" val="692441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ja-JP" altLang="en-US"/>
              <a:t>マスター タイトルの書式設定</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A392706B-5D25-445B-AAE1-94FC879551FA}" type="datetimeFigureOut">
              <a:rPr kumimoji="1" lang="ja-JP" altLang="en-US" smtClean="0"/>
              <a:t>2026/2/26</a:t>
            </a:fld>
            <a:endParaRPr kumimoji="1" lang="ja-JP" altLang="en-US"/>
          </a:p>
        </p:txBody>
      </p:sp>
      <p:sp>
        <p:nvSpPr>
          <p:cNvPr id="5" name="Footer Placeholder 4"/>
          <p:cNvSpPr>
            <a:spLocks noGrp="1"/>
          </p:cNvSpPr>
          <p:nvPr>
            <p:ph type="ftr" sz="quarter" idx="11"/>
          </p:nvPr>
        </p:nvSpPr>
        <p:spPr>
          <a:xfrm>
            <a:off x="2416500" y="329307"/>
            <a:ext cx="4973915" cy="309201"/>
          </a:xfrm>
        </p:spPr>
        <p:txBody>
          <a:bodyPr/>
          <a:lstStyle/>
          <a:p>
            <a:endParaRPr kumimoji="1" lang="ja-JP" altLang="en-US"/>
          </a:p>
        </p:txBody>
      </p:sp>
      <p:sp>
        <p:nvSpPr>
          <p:cNvPr id="6" name="Slide Number Placeholder 5"/>
          <p:cNvSpPr>
            <a:spLocks noGrp="1"/>
          </p:cNvSpPr>
          <p:nvPr>
            <p:ph type="sldNum" sz="quarter" idx="12"/>
          </p:nvPr>
        </p:nvSpPr>
        <p:spPr>
          <a:xfrm>
            <a:off x="1437664" y="798973"/>
            <a:ext cx="811019" cy="503578"/>
          </a:xfrm>
        </p:spPr>
        <p:txBody>
          <a:bodyPr/>
          <a:lstStyle/>
          <a:p>
            <a:fld id="{2F037D6A-CC1D-4882-AA64-8B2C66CE56AC}" type="slidenum">
              <a:rPr kumimoji="1" lang="ja-JP" altLang="en-US" smtClean="0"/>
              <a:t>‹#›</a:t>
            </a:fld>
            <a:endParaRPr kumimoji="1" lang="ja-JP" alt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5947779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ncho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A392706B-5D25-445B-AAE1-94FC879551FA}" type="datetimeFigureOut">
              <a:rPr kumimoji="1" lang="ja-JP" altLang="en-US" smtClean="0"/>
              <a:t>2026/2/26</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2F037D6A-CC1D-4882-AA64-8B2C66CE56AC}" type="slidenum">
              <a:rPr kumimoji="1" lang="ja-JP" altLang="en-US" smtClean="0"/>
              <a:t>‹#›</a:t>
            </a:fld>
            <a:endParaRPr kumimoji="1" lang="ja-JP" alt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13717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A392706B-5D25-445B-AAE1-94FC879551FA}" type="datetimeFigureOut">
              <a:rPr kumimoji="1" lang="ja-JP" altLang="en-US" smtClean="0"/>
              <a:t>2026/2/26</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2F037D6A-CC1D-4882-AA64-8B2C66CE56AC}" type="slidenum">
              <a:rPr kumimoji="1" lang="ja-JP" altLang="en-US" smtClean="0"/>
              <a:t>‹#›</a:t>
            </a:fld>
            <a:endParaRPr kumimoji="1" lang="ja-JP" alt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337078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A392706B-5D25-445B-AAE1-94FC879551FA}" type="datetimeFigureOut">
              <a:rPr kumimoji="1" lang="ja-JP" altLang="en-US" smtClean="0"/>
              <a:t>2026/2/26</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2F037D6A-CC1D-4882-AA64-8B2C66CE56AC}" type="slidenum">
              <a:rPr kumimoji="1" lang="ja-JP" altLang="en-US" smtClean="0"/>
              <a:t>‹#›</a:t>
            </a:fld>
            <a:endParaRPr kumimoji="1" lang="ja-JP" alt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794838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1447191" y="2824269"/>
            <a:ext cx="4645152" cy="2644457"/>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6412362" y="2821491"/>
            <a:ext cx="4645152" cy="2637371"/>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A392706B-5D25-445B-AAE1-94FC879551FA}" type="datetimeFigureOut">
              <a:rPr kumimoji="1" lang="ja-JP" altLang="en-US" smtClean="0"/>
              <a:t>2026/2/26</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2F037D6A-CC1D-4882-AA64-8B2C66CE56AC}" type="slidenum">
              <a:rPr kumimoji="1" lang="ja-JP" altLang="en-US" smtClean="0"/>
              <a:t>‹#›</a:t>
            </a:fld>
            <a:endParaRPr kumimoji="1" lang="ja-JP" alt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54206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A392706B-5D25-445B-AAE1-94FC879551FA}" type="datetimeFigureOut">
              <a:rPr kumimoji="1" lang="ja-JP" altLang="en-US" smtClean="0"/>
              <a:t>2026/2/26</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2F037D6A-CC1D-4882-AA64-8B2C66CE56AC}" type="slidenum">
              <a:rPr kumimoji="1" lang="ja-JP" altLang="en-US" smtClean="0"/>
              <a:t>‹#›</a:t>
            </a:fld>
            <a:endParaRPr kumimoji="1" lang="ja-JP" alt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66500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392706B-5D25-445B-AAE1-94FC879551FA}" type="datetimeFigureOut">
              <a:rPr kumimoji="1" lang="ja-JP" altLang="en-US" smtClean="0"/>
              <a:t>2026/2/26</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2F037D6A-CC1D-4882-AA64-8B2C66CE56AC}" type="slidenum">
              <a:rPr kumimoji="1" lang="ja-JP" altLang="en-US" smtClean="0"/>
              <a:t>‹#›</a:t>
            </a:fld>
            <a:endParaRPr kumimoji="1" lang="ja-JP" altLang="en-US"/>
          </a:p>
        </p:txBody>
      </p:sp>
    </p:spTree>
    <p:extLst>
      <p:ext uri="{BB962C8B-B14F-4D97-AF65-F5344CB8AC3E}">
        <p14:creationId xmlns:p14="http://schemas.microsoft.com/office/powerpoint/2010/main" val="4954285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ja-JP" altLang="en-US"/>
              <a:t>マスター タイトルの書式設定</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A392706B-5D25-445B-AAE1-94FC879551FA}" type="datetimeFigureOut">
              <a:rPr kumimoji="1" lang="ja-JP" altLang="en-US" smtClean="0"/>
              <a:t>2026/2/26</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2F037D6A-CC1D-4882-AA64-8B2C66CE56AC}" type="slidenum">
              <a:rPr kumimoji="1" lang="ja-JP" altLang="en-US" smtClean="0"/>
              <a:t>‹#›</a:t>
            </a:fld>
            <a:endParaRPr kumimoji="1" lang="ja-JP" alt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662419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A392706B-5D25-445B-AAE1-94FC879551FA}" type="datetimeFigureOut">
              <a:rPr kumimoji="1" lang="ja-JP" altLang="en-US" smtClean="0"/>
              <a:t>2026/2/26</a:t>
            </a:fld>
            <a:endParaRPr kumimoji="1" lang="ja-JP" altLang="en-US"/>
          </a:p>
        </p:txBody>
      </p:sp>
      <p:sp>
        <p:nvSpPr>
          <p:cNvPr id="6" name="Footer Placeholder 5"/>
          <p:cNvSpPr>
            <a:spLocks noGrp="1"/>
          </p:cNvSpPr>
          <p:nvPr>
            <p:ph type="ftr" sz="quarter" idx="11"/>
          </p:nvPr>
        </p:nvSpPr>
        <p:spPr>
          <a:xfrm>
            <a:off x="1447382" y="318640"/>
            <a:ext cx="5541004" cy="320931"/>
          </a:xfrm>
        </p:spPr>
        <p:txBody>
          <a:bodyPr/>
          <a:lstStyle/>
          <a:p>
            <a:endParaRPr kumimoji="1" lang="ja-JP" altLang="en-US"/>
          </a:p>
        </p:txBody>
      </p:sp>
      <p:sp>
        <p:nvSpPr>
          <p:cNvPr id="7" name="Slide Number Placeholder 6"/>
          <p:cNvSpPr>
            <a:spLocks noGrp="1"/>
          </p:cNvSpPr>
          <p:nvPr>
            <p:ph type="sldNum" sz="quarter" idx="12"/>
          </p:nvPr>
        </p:nvSpPr>
        <p:spPr/>
        <p:txBody>
          <a:bodyPr/>
          <a:lstStyle/>
          <a:p>
            <a:fld id="{2F037D6A-CC1D-4882-AA64-8B2C66CE56AC}" type="slidenum">
              <a:rPr kumimoji="1" lang="ja-JP" altLang="en-US" smtClean="0"/>
              <a:t>‹#›</a:t>
            </a:fld>
            <a:endParaRPr kumimoji="1" lang="ja-JP" alt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668493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A392706B-5D25-445B-AAE1-94FC879551FA}" type="datetimeFigureOut">
              <a:rPr kumimoji="1" lang="ja-JP" altLang="en-US" smtClean="0"/>
              <a:t>2026/2/26</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2F037D6A-CC1D-4882-AA64-8B2C66CE56AC}" type="slidenum">
              <a:rPr kumimoji="1" lang="ja-JP" altLang="en-US" smtClean="0"/>
              <a:t>‹#›</a:t>
            </a:fld>
            <a:endParaRPr kumimoji="1" lang="ja-JP" alt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645889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A392706B-5D25-445B-AAE1-94FC879551FA}" type="datetimeFigureOut">
              <a:rPr kumimoji="1" lang="ja-JP" altLang="en-US" smtClean="0"/>
              <a:t>2026/2/26</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2F037D6A-CC1D-4882-AA64-8B2C66CE56AC}" type="slidenum">
              <a:rPr kumimoji="1" lang="ja-JP" altLang="en-US" smtClean="0"/>
              <a:t>‹#›</a:t>
            </a:fld>
            <a:endParaRPr kumimoji="1" lang="ja-JP" alt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072146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A392706B-5D25-445B-AAE1-94FC879551FA}" type="datetimeFigureOut">
              <a:rPr kumimoji="1" lang="ja-JP" altLang="en-US" smtClean="0"/>
              <a:t>2026/2/26</a:t>
            </a:fld>
            <a:endParaRPr kumimoji="1" lang="ja-JP" alt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2F037D6A-CC1D-4882-AA64-8B2C66CE56AC}" type="slidenum">
              <a:rPr kumimoji="1" lang="ja-JP" altLang="en-US" smtClean="0"/>
              <a:t>‹#›</a:t>
            </a:fld>
            <a:endParaRPr kumimoji="1" lang="ja-JP" alt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8066649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kumimoji="1"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kumimoji="1"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8DB792E-A11A-425C-90C0-5CA71CEBA21A}"/>
              </a:ext>
            </a:extLst>
          </p:cNvPr>
          <p:cNvSpPr>
            <a:spLocks noGrp="1"/>
          </p:cNvSpPr>
          <p:nvPr>
            <p:ph type="ctrTitle"/>
          </p:nvPr>
        </p:nvSpPr>
        <p:spPr>
          <a:xfrm>
            <a:off x="2417779" y="785365"/>
            <a:ext cx="8637073" cy="2541431"/>
          </a:xfrm>
        </p:spPr>
        <p:txBody>
          <a:bodyPr>
            <a:normAutofit/>
          </a:bodyPr>
          <a:lstStyle/>
          <a:p>
            <a:r>
              <a:rPr lang="en-US" altLang="ja-JP" dirty="0">
                <a:latin typeface="ＭＳ 明朝" panose="02020609040205080304" pitchFamily="17" charset="-128"/>
                <a:ea typeface="ＭＳ 明朝" panose="02020609040205080304" pitchFamily="17" charset="-128"/>
              </a:rPr>
              <a:t>AI×</a:t>
            </a:r>
            <a:r>
              <a:rPr lang="ja-JP" altLang="en-US" dirty="0">
                <a:latin typeface="ＭＳ 明朝" panose="02020609040205080304" pitchFamily="17" charset="-128"/>
                <a:ea typeface="ＭＳ 明朝" panose="02020609040205080304" pitchFamily="17" charset="-128"/>
              </a:rPr>
              <a:t>服薬管理システム</a:t>
            </a:r>
            <a:br>
              <a:rPr lang="en-US" altLang="ja-JP" dirty="0">
                <a:latin typeface="ＭＳ 明朝" panose="02020609040205080304" pitchFamily="17" charset="-128"/>
                <a:ea typeface="ＭＳ 明朝" panose="02020609040205080304" pitchFamily="17" charset="-128"/>
              </a:rPr>
            </a:br>
            <a:r>
              <a:rPr lang="ja-JP" altLang="en-US" dirty="0">
                <a:latin typeface="ＭＳ 明朝" panose="02020609040205080304" pitchFamily="17" charset="-128"/>
                <a:ea typeface="ＭＳ 明朝" panose="02020609040205080304" pitchFamily="17" charset="-128"/>
              </a:rPr>
              <a:t>メディケア・リワード</a:t>
            </a:r>
            <a:endParaRPr kumimoji="1" lang="ja-JP" altLang="en-US" dirty="0">
              <a:latin typeface="ＭＳ 明朝" panose="02020609040205080304" pitchFamily="17" charset="-128"/>
              <a:ea typeface="ＭＳ 明朝" panose="02020609040205080304" pitchFamily="17" charset="-128"/>
            </a:endParaRPr>
          </a:p>
        </p:txBody>
      </p:sp>
      <p:sp>
        <p:nvSpPr>
          <p:cNvPr id="3" name="字幕 2">
            <a:extLst>
              <a:ext uri="{FF2B5EF4-FFF2-40B4-BE49-F238E27FC236}">
                <a16:creationId xmlns:a16="http://schemas.microsoft.com/office/drawing/2014/main" id="{A8DE46EE-C56D-4BA2-B11C-DCD5D7DCC1A5}"/>
              </a:ext>
            </a:extLst>
          </p:cNvPr>
          <p:cNvSpPr>
            <a:spLocks noGrp="1"/>
          </p:cNvSpPr>
          <p:nvPr>
            <p:ph type="subTitle" idx="1"/>
          </p:nvPr>
        </p:nvSpPr>
        <p:spPr/>
        <p:txBody>
          <a:bodyPr>
            <a:noAutofit/>
          </a:bodyPr>
          <a:lstStyle/>
          <a:p>
            <a:r>
              <a:rPr kumimoji="1" lang="ja-JP" altLang="en-US" sz="2800" dirty="0">
                <a:latin typeface="ＭＳ 明朝" panose="02020609040205080304" pitchFamily="17" charset="-128"/>
                <a:ea typeface="ＭＳ 明朝" panose="02020609040205080304" pitchFamily="17" charset="-128"/>
              </a:rPr>
              <a:t>メンバー</a:t>
            </a:r>
            <a:endParaRPr kumimoji="1" lang="en-US" altLang="ja-JP" sz="2800" dirty="0">
              <a:latin typeface="ＭＳ 明朝" panose="02020609040205080304" pitchFamily="17" charset="-128"/>
              <a:ea typeface="ＭＳ 明朝" panose="02020609040205080304" pitchFamily="17" charset="-128"/>
            </a:endParaRPr>
          </a:p>
          <a:p>
            <a:r>
              <a:rPr lang="ja-JP" altLang="en-US" sz="2800" dirty="0">
                <a:latin typeface="ＭＳ 明朝" panose="02020609040205080304" pitchFamily="17" charset="-128"/>
                <a:ea typeface="ＭＳ 明朝" panose="02020609040205080304" pitchFamily="17" charset="-128"/>
              </a:rPr>
              <a:t>・中村　颯真</a:t>
            </a:r>
            <a:endParaRPr lang="en-US" altLang="ja-JP" sz="2800" dirty="0">
              <a:latin typeface="ＭＳ 明朝" panose="02020609040205080304" pitchFamily="17" charset="-128"/>
              <a:ea typeface="ＭＳ 明朝" panose="02020609040205080304" pitchFamily="17" charset="-128"/>
            </a:endParaRPr>
          </a:p>
          <a:p>
            <a:r>
              <a:rPr kumimoji="1" lang="ja-JP" altLang="en-US" sz="2800" dirty="0">
                <a:latin typeface="ＭＳ 明朝" panose="02020609040205080304" pitchFamily="17" charset="-128"/>
                <a:ea typeface="ＭＳ 明朝" panose="02020609040205080304" pitchFamily="17" charset="-128"/>
              </a:rPr>
              <a:t>・北田　藤士</a:t>
            </a:r>
            <a:endParaRPr kumimoji="1" lang="en-US" altLang="ja-JP" sz="2800" dirty="0">
              <a:latin typeface="ＭＳ 明朝" panose="02020609040205080304" pitchFamily="17" charset="-128"/>
              <a:ea typeface="ＭＳ 明朝" panose="02020609040205080304" pitchFamily="17" charset="-128"/>
            </a:endParaRPr>
          </a:p>
          <a:p>
            <a:r>
              <a:rPr lang="ja-JP" altLang="en-US" sz="2800" dirty="0">
                <a:latin typeface="ＭＳ 明朝" panose="02020609040205080304" pitchFamily="17" charset="-128"/>
                <a:ea typeface="ＭＳ 明朝" panose="02020609040205080304" pitchFamily="17" charset="-128"/>
              </a:rPr>
              <a:t>・高橋　真也</a:t>
            </a:r>
            <a:endParaRPr kumimoji="1" lang="ja-JP" altLang="en-US" sz="2800" dirty="0">
              <a:latin typeface="ＭＳ 明朝" panose="02020609040205080304" pitchFamily="17" charset="-128"/>
              <a:ea typeface="ＭＳ 明朝" panose="02020609040205080304" pitchFamily="17" charset="-128"/>
            </a:endParaRPr>
          </a:p>
        </p:txBody>
      </p:sp>
    </p:spTree>
    <p:extLst>
      <p:ext uri="{BB962C8B-B14F-4D97-AF65-F5344CB8AC3E}">
        <p14:creationId xmlns:p14="http://schemas.microsoft.com/office/powerpoint/2010/main" val="30740444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E53B13F-3471-424D-8C32-30AC30EA4D3C}"/>
              </a:ext>
            </a:extLst>
          </p:cNvPr>
          <p:cNvSpPr>
            <a:spLocks noGrp="1"/>
          </p:cNvSpPr>
          <p:nvPr>
            <p:ph type="title"/>
          </p:nvPr>
        </p:nvSpPr>
        <p:spPr/>
        <p:txBody>
          <a:bodyPr>
            <a:normAutofit/>
          </a:bodyPr>
          <a:lstStyle/>
          <a:p>
            <a:pPr algn="ctr"/>
            <a:r>
              <a:rPr kumimoji="1" lang="ja-JP" altLang="en-US" sz="6600" dirty="0">
                <a:latin typeface="ＭＳ 明朝" panose="02020609040205080304" pitchFamily="17" charset="-128"/>
                <a:ea typeface="ＭＳ 明朝" panose="02020609040205080304" pitchFamily="17" charset="-128"/>
              </a:rPr>
              <a:t>目次</a:t>
            </a:r>
          </a:p>
        </p:txBody>
      </p:sp>
      <p:sp>
        <p:nvSpPr>
          <p:cNvPr id="3" name="コンテンツ プレースホルダー 2">
            <a:extLst>
              <a:ext uri="{FF2B5EF4-FFF2-40B4-BE49-F238E27FC236}">
                <a16:creationId xmlns:a16="http://schemas.microsoft.com/office/drawing/2014/main" id="{A980148E-9D30-4036-A8A6-41EC7CDFE4A3}"/>
              </a:ext>
            </a:extLst>
          </p:cNvPr>
          <p:cNvSpPr>
            <a:spLocks noGrp="1"/>
          </p:cNvSpPr>
          <p:nvPr>
            <p:ph idx="1"/>
          </p:nvPr>
        </p:nvSpPr>
        <p:spPr>
          <a:xfrm>
            <a:off x="2269432" y="2004981"/>
            <a:ext cx="7967568" cy="4290275"/>
          </a:xfrm>
        </p:spPr>
        <p:txBody>
          <a:bodyPr>
            <a:normAutofit/>
          </a:bodyPr>
          <a:lstStyle/>
          <a:p>
            <a:pPr marL="0" indent="0">
              <a:buNone/>
            </a:pPr>
            <a:r>
              <a:rPr kumimoji="1" lang="ja-JP" altLang="en-US" sz="2800" dirty="0">
                <a:latin typeface="ＭＳ 明朝" panose="02020609040205080304" pitchFamily="17" charset="-128"/>
                <a:ea typeface="ＭＳ 明朝" panose="02020609040205080304" pitchFamily="17" charset="-128"/>
              </a:rPr>
              <a:t>　　　①背景　　　　　　</a:t>
            </a:r>
            <a:r>
              <a:rPr lang="ja-JP" altLang="en-US" sz="2800" dirty="0">
                <a:latin typeface="ＭＳ 明朝" panose="02020609040205080304" pitchFamily="17" charset="-128"/>
                <a:ea typeface="ＭＳ 明朝" panose="02020609040205080304" pitchFamily="17" charset="-128"/>
              </a:rPr>
              <a:t>⑦システム概要</a:t>
            </a:r>
            <a:endParaRPr lang="en-US" altLang="ja-JP" sz="2800" dirty="0">
              <a:latin typeface="ＭＳ 明朝" panose="02020609040205080304" pitchFamily="17" charset="-128"/>
              <a:ea typeface="ＭＳ 明朝" panose="02020609040205080304" pitchFamily="17" charset="-128"/>
            </a:endParaRPr>
          </a:p>
          <a:p>
            <a:pPr marL="0" indent="0">
              <a:buNone/>
            </a:pPr>
            <a:r>
              <a:rPr lang="ja-JP" altLang="en-US" sz="2800" dirty="0">
                <a:latin typeface="ＭＳ 明朝" panose="02020609040205080304" pitchFamily="17" charset="-128"/>
                <a:ea typeface="ＭＳ 明朝" panose="02020609040205080304" pitchFamily="17" charset="-128"/>
              </a:rPr>
              <a:t>　　　②現状の課題　　　⑧技術構成</a:t>
            </a:r>
            <a:endParaRPr lang="en-US" altLang="ja-JP" sz="2800" dirty="0">
              <a:latin typeface="ＭＳ 明朝" panose="02020609040205080304" pitchFamily="17" charset="-128"/>
              <a:ea typeface="ＭＳ 明朝" panose="02020609040205080304" pitchFamily="17" charset="-128"/>
            </a:endParaRPr>
          </a:p>
          <a:p>
            <a:pPr marL="0" indent="0">
              <a:buNone/>
            </a:pPr>
            <a:r>
              <a:rPr kumimoji="1" lang="ja-JP" altLang="en-US" sz="2800" dirty="0">
                <a:latin typeface="ＭＳ 明朝" panose="02020609040205080304" pitchFamily="17" charset="-128"/>
                <a:ea typeface="ＭＳ 明朝" panose="02020609040205080304" pitchFamily="17" charset="-128"/>
              </a:rPr>
              <a:t>　　　③課題の影響　　　⑨効果・展望</a:t>
            </a:r>
            <a:endParaRPr kumimoji="1" lang="en-US" altLang="ja-JP" sz="2800" dirty="0">
              <a:latin typeface="ＭＳ 明朝" panose="02020609040205080304" pitchFamily="17" charset="-128"/>
              <a:ea typeface="ＭＳ 明朝" panose="02020609040205080304" pitchFamily="17" charset="-128"/>
            </a:endParaRPr>
          </a:p>
          <a:p>
            <a:pPr marL="0" indent="0">
              <a:buNone/>
            </a:pPr>
            <a:r>
              <a:rPr lang="ja-JP" altLang="en-US" sz="2800" dirty="0">
                <a:latin typeface="ＭＳ 明朝" panose="02020609040205080304" pitchFamily="17" charset="-128"/>
                <a:ea typeface="ＭＳ 明朝" panose="02020609040205080304" pitchFamily="17" charset="-128"/>
              </a:rPr>
              <a:t>　　　④コンセプト　　　⑩質疑応答</a:t>
            </a:r>
            <a:endParaRPr lang="en-US" altLang="ja-JP" sz="2800" dirty="0">
              <a:latin typeface="ＭＳ 明朝" panose="02020609040205080304" pitchFamily="17" charset="-128"/>
              <a:ea typeface="ＭＳ 明朝" panose="02020609040205080304" pitchFamily="17" charset="-128"/>
            </a:endParaRPr>
          </a:p>
          <a:p>
            <a:pPr marL="0" indent="0">
              <a:buNone/>
            </a:pPr>
            <a:r>
              <a:rPr lang="ja-JP" altLang="en-US" sz="2800" dirty="0">
                <a:latin typeface="ＭＳ 明朝" panose="02020609040205080304" pitchFamily="17" charset="-128"/>
                <a:ea typeface="ＭＳ 明朝" panose="02020609040205080304" pitchFamily="17" charset="-128"/>
              </a:rPr>
              <a:t>      ⑤</a:t>
            </a:r>
            <a:r>
              <a:rPr lang="en-US" altLang="ja-JP" sz="2800" dirty="0">
                <a:latin typeface="ＭＳ 明朝" panose="02020609040205080304" pitchFamily="17" charset="-128"/>
                <a:ea typeface="ＭＳ 明朝" panose="02020609040205080304" pitchFamily="17" charset="-128"/>
              </a:rPr>
              <a:t>AI</a:t>
            </a:r>
            <a:r>
              <a:rPr lang="ja-JP" altLang="en-US" sz="2800" dirty="0">
                <a:latin typeface="ＭＳ 明朝" panose="02020609040205080304" pitchFamily="17" charset="-128"/>
                <a:ea typeface="ＭＳ 明朝" panose="02020609040205080304" pitchFamily="17" charset="-128"/>
              </a:rPr>
              <a:t>の役割      　</a:t>
            </a:r>
            <a:endParaRPr lang="en-US" altLang="ja-JP" sz="2800" dirty="0">
              <a:latin typeface="ＭＳ 明朝" panose="02020609040205080304" pitchFamily="17" charset="-128"/>
              <a:ea typeface="ＭＳ 明朝" panose="02020609040205080304" pitchFamily="17" charset="-128"/>
            </a:endParaRPr>
          </a:p>
          <a:p>
            <a:pPr marL="0" indent="0">
              <a:buNone/>
            </a:pPr>
            <a:r>
              <a:rPr kumimoji="1" lang="ja-JP" altLang="en-US" sz="2800" dirty="0">
                <a:latin typeface="ＭＳ 明朝" panose="02020609040205080304" pitchFamily="17" charset="-128"/>
                <a:ea typeface="ＭＳ 明朝" panose="02020609040205080304" pitchFamily="17" charset="-128"/>
              </a:rPr>
              <a:t>　　　⑥流れ　　　　　　</a:t>
            </a:r>
            <a:endParaRPr lang="en-US" altLang="ja-JP" sz="2800" dirty="0">
              <a:latin typeface="ＭＳ 明朝" panose="02020609040205080304" pitchFamily="17" charset="-128"/>
              <a:ea typeface="ＭＳ 明朝" panose="02020609040205080304" pitchFamily="17" charset="-128"/>
            </a:endParaRPr>
          </a:p>
          <a:p>
            <a:pPr marL="0" indent="0">
              <a:buNone/>
            </a:pPr>
            <a:endParaRPr kumimoji="1" lang="ja-JP" altLang="en-US" sz="2800" dirty="0"/>
          </a:p>
        </p:txBody>
      </p:sp>
    </p:spTree>
    <p:extLst>
      <p:ext uri="{BB962C8B-B14F-4D97-AF65-F5344CB8AC3E}">
        <p14:creationId xmlns:p14="http://schemas.microsoft.com/office/powerpoint/2010/main" val="24219689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C946644-CD70-4C3A-9F3A-87BD09C16D3C}"/>
              </a:ext>
            </a:extLst>
          </p:cNvPr>
          <p:cNvSpPr>
            <a:spLocks noGrp="1"/>
          </p:cNvSpPr>
          <p:nvPr>
            <p:ph type="title"/>
          </p:nvPr>
        </p:nvSpPr>
        <p:spPr>
          <a:xfrm>
            <a:off x="1451579" y="804519"/>
            <a:ext cx="9603275" cy="1049235"/>
          </a:xfrm>
        </p:spPr>
        <p:txBody>
          <a:bodyPr>
            <a:normAutofit/>
          </a:bodyPr>
          <a:lstStyle/>
          <a:p>
            <a:pPr algn="ctr"/>
            <a:r>
              <a:rPr kumimoji="1" lang="ja-JP" altLang="en-US" sz="6000" dirty="0">
                <a:latin typeface="ＭＳ 明朝" panose="02020609040205080304" pitchFamily="17" charset="-128"/>
                <a:ea typeface="ＭＳ 明朝" panose="02020609040205080304" pitchFamily="17" charset="-128"/>
              </a:rPr>
              <a:t>ペルソナ</a:t>
            </a:r>
          </a:p>
        </p:txBody>
      </p:sp>
      <p:sp>
        <p:nvSpPr>
          <p:cNvPr id="3" name="コンテンツ プレースホルダー 2">
            <a:extLst>
              <a:ext uri="{FF2B5EF4-FFF2-40B4-BE49-F238E27FC236}">
                <a16:creationId xmlns:a16="http://schemas.microsoft.com/office/drawing/2014/main" id="{D677F6E2-F1E5-4AF7-9251-DAB2807E582D}"/>
              </a:ext>
            </a:extLst>
          </p:cNvPr>
          <p:cNvSpPr>
            <a:spLocks noGrp="1"/>
          </p:cNvSpPr>
          <p:nvPr>
            <p:ph idx="1"/>
          </p:nvPr>
        </p:nvSpPr>
        <p:spPr>
          <a:xfrm>
            <a:off x="1264688" y="2334287"/>
            <a:ext cx="9067089" cy="1422233"/>
          </a:xfrm>
        </p:spPr>
        <p:txBody>
          <a:bodyPr>
            <a:noAutofit/>
          </a:bodyPr>
          <a:lstStyle/>
          <a:p>
            <a:pPr marL="0" indent="0">
              <a:buNone/>
            </a:pPr>
            <a:r>
              <a:rPr kumimoji="1" lang="ja-JP" altLang="en-US" sz="2800" dirty="0">
                <a:latin typeface="ＭＳ 明朝" panose="02020609040205080304" pitchFamily="17" charset="-128"/>
                <a:ea typeface="ＭＳ 明朝" panose="02020609040205080304" pitchFamily="17" charset="-128"/>
              </a:rPr>
              <a:t>山田きよえ</a:t>
            </a:r>
            <a:r>
              <a:rPr kumimoji="1" lang="en-US" altLang="ja-JP" sz="2800" dirty="0">
                <a:latin typeface="ＭＳ 明朝" panose="02020609040205080304" pitchFamily="17" charset="-128"/>
                <a:ea typeface="ＭＳ 明朝" panose="02020609040205080304" pitchFamily="17" charset="-128"/>
              </a:rPr>
              <a:t>(75)</a:t>
            </a:r>
          </a:p>
          <a:p>
            <a:pPr marL="0" indent="0">
              <a:buNone/>
            </a:pPr>
            <a:r>
              <a:rPr lang="ja-JP" altLang="en-US" sz="2800" dirty="0">
                <a:latin typeface="ＭＳ 明朝" panose="02020609040205080304" pitchFamily="17" charset="-128"/>
                <a:ea typeface="ＭＳ 明朝" panose="02020609040205080304" pitchFamily="17" charset="-128"/>
              </a:rPr>
              <a:t>女性、一人暮らし、薬は</a:t>
            </a:r>
            <a:r>
              <a:rPr lang="en-US" altLang="ja-JP" sz="2800" dirty="0">
                <a:latin typeface="ＭＳ 明朝" panose="02020609040205080304" pitchFamily="17" charset="-128"/>
                <a:ea typeface="ＭＳ 明朝" panose="02020609040205080304" pitchFamily="17" charset="-128"/>
              </a:rPr>
              <a:t>1</a:t>
            </a:r>
            <a:r>
              <a:rPr lang="ja-JP" altLang="en-US" sz="2800" dirty="0">
                <a:latin typeface="ＭＳ 明朝" panose="02020609040205080304" pitchFamily="17" charset="-128"/>
                <a:ea typeface="ＭＳ 明朝" panose="02020609040205080304" pitchFamily="17" charset="-128"/>
              </a:rPr>
              <a:t>日</a:t>
            </a:r>
            <a:r>
              <a:rPr lang="en-US" altLang="ja-JP" sz="2800" dirty="0">
                <a:latin typeface="ＭＳ 明朝" panose="02020609040205080304" pitchFamily="17" charset="-128"/>
                <a:ea typeface="ＭＳ 明朝" panose="02020609040205080304" pitchFamily="17" charset="-128"/>
              </a:rPr>
              <a:t>3</a:t>
            </a:r>
            <a:r>
              <a:rPr lang="ja-JP" altLang="en-US" sz="2800" dirty="0">
                <a:latin typeface="ＭＳ 明朝" panose="02020609040205080304" pitchFamily="17" charset="-128"/>
                <a:ea typeface="ＭＳ 明朝" panose="02020609040205080304" pitchFamily="17" charset="-128"/>
              </a:rPr>
              <a:t>回、飲み忘れが月に数回</a:t>
            </a:r>
            <a:endParaRPr kumimoji="1" lang="ja-JP" altLang="en-US" sz="2800" dirty="0">
              <a:latin typeface="ＭＳ 明朝" panose="02020609040205080304" pitchFamily="17" charset="-128"/>
              <a:ea typeface="ＭＳ 明朝" panose="02020609040205080304" pitchFamily="17" charset="-128"/>
            </a:endParaRPr>
          </a:p>
        </p:txBody>
      </p:sp>
      <p:pic>
        <p:nvPicPr>
          <p:cNvPr id="5" name="図 4">
            <a:extLst>
              <a:ext uri="{FF2B5EF4-FFF2-40B4-BE49-F238E27FC236}">
                <a16:creationId xmlns:a16="http://schemas.microsoft.com/office/drawing/2014/main" id="{639146F2-11D9-4024-B30A-DC75C83121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93686" y="3756520"/>
            <a:ext cx="2714625" cy="2714625"/>
          </a:xfrm>
          <a:prstGeom prst="rect">
            <a:avLst/>
          </a:prstGeom>
        </p:spPr>
      </p:pic>
    </p:spTree>
    <p:extLst>
      <p:ext uri="{BB962C8B-B14F-4D97-AF65-F5344CB8AC3E}">
        <p14:creationId xmlns:p14="http://schemas.microsoft.com/office/powerpoint/2010/main" val="8379798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7DB8BA0-881A-4FF3-B3D9-93CF73704643}"/>
              </a:ext>
            </a:extLst>
          </p:cNvPr>
          <p:cNvSpPr>
            <a:spLocks noGrp="1"/>
          </p:cNvSpPr>
          <p:nvPr>
            <p:ph type="title"/>
          </p:nvPr>
        </p:nvSpPr>
        <p:spPr>
          <a:xfrm>
            <a:off x="949037" y="323562"/>
            <a:ext cx="10515600" cy="1325563"/>
          </a:xfrm>
        </p:spPr>
        <p:txBody>
          <a:bodyPr>
            <a:normAutofit/>
          </a:bodyPr>
          <a:lstStyle/>
          <a:p>
            <a:pPr algn="ctr"/>
            <a:r>
              <a:rPr kumimoji="1" lang="ja-JP" altLang="en-US" sz="6000" dirty="0">
                <a:latin typeface="ＭＳ 明朝" panose="02020609040205080304" pitchFamily="17" charset="-128"/>
                <a:ea typeface="ＭＳ 明朝" panose="02020609040205080304" pitchFamily="17" charset="-128"/>
              </a:rPr>
              <a:t>背景</a:t>
            </a:r>
          </a:p>
        </p:txBody>
      </p:sp>
      <p:sp>
        <p:nvSpPr>
          <p:cNvPr id="3" name="コンテンツ プレースホルダー 2">
            <a:extLst>
              <a:ext uri="{FF2B5EF4-FFF2-40B4-BE49-F238E27FC236}">
                <a16:creationId xmlns:a16="http://schemas.microsoft.com/office/drawing/2014/main" id="{23ACA66B-1D27-4852-B73A-6618C7E1A264}"/>
              </a:ext>
            </a:extLst>
          </p:cNvPr>
          <p:cNvSpPr>
            <a:spLocks noGrp="1"/>
          </p:cNvSpPr>
          <p:nvPr>
            <p:ph idx="1"/>
          </p:nvPr>
        </p:nvSpPr>
        <p:spPr>
          <a:xfrm>
            <a:off x="1447915" y="2083324"/>
            <a:ext cx="9517844" cy="4121348"/>
          </a:xfrm>
        </p:spPr>
        <p:txBody>
          <a:bodyPr>
            <a:noAutofit/>
          </a:bodyPr>
          <a:lstStyle/>
          <a:p>
            <a:pPr marL="0" indent="0">
              <a:buNone/>
            </a:pPr>
            <a:r>
              <a:rPr kumimoji="1" lang="ja-JP" altLang="en-US" sz="2800" dirty="0">
                <a:latin typeface="ＭＳ 明朝" panose="02020609040205080304" pitchFamily="17" charset="-128"/>
                <a:ea typeface="ＭＳ 明朝" panose="02020609040205080304" pitchFamily="17" charset="-128"/>
              </a:rPr>
              <a:t>近年、高齢者の間では薬の飲み忘れ、飲み間違いが課題</a:t>
            </a:r>
            <a:endParaRPr kumimoji="1" lang="en-US" altLang="ja-JP" sz="2800" dirty="0">
              <a:latin typeface="ＭＳ 明朝" panose="02020609040205080304" pitchFamily="17" charset="-128"/>
              <a:ea typeface="ＭＳ 明朝" panose="02020609040205080304" pitchFamily="17" charset="-128"/>
            </a:endParaRPr>
          </a:p>
          <a:p>
            <a:pPr marL="0" indent="0">
              <a:buNone/>
            </a:pPr>
            <a:endParaRPr kumimoji="1" lang="en-US" altLang="ja-JP" sz="2800" dirty="0">
              <a:latin typeface="ＭＳ 明朝" panose="02020609040205080304" pitchFamily="17" charset="-128"/>
              <a:ea typeface="ＭＳ 明朝" panose="02020609040205080304" pitchFamily="17" charset="-128"/>
            </a:endParaRPr>
          </a:p>
          <a:p>
            <a:pPr marL="0" indent="0">
              <a:buNone/>
            </a:pPr>
            <a:r>
              <a:rPr lang="ja-JP" altLang="en-US" sz="2800" dirty="0">
                <a:latin typeface="ＭＳ 明朝" panose="02020609040205080304" pitchFamily="17" charset="-128"/>
                <a:ea typeface="ＭＳ 明朝" panose="02020609040205080304" pitchFamily="17" charset="-128"/>
              </a:rPr>
              <a:t>　　　　　　　　　　　　 ↓</a:t>
            </a:r>
            <a:endParaRPr lang="en-US" altLang="ja-JP" sz="2800" dirty="0">
              <a:latin typeface="ＭＳ 明朝" panose="02020609040205080304" pitchFamily="17" charset="-128"/>
              <a:ea typeface="ＭＳ 明朝" panose="02020609040205080304" pitchFamily="17" charset="-128"/>
            </a:endParaRPr>
          </a:p>
          <a:p>
            <a:pPr marL="0" indent="0">
              <a:buNone/>
            </a:pPr>
            <a:endParaRPr kumimoji="1" lang="en-US" altLang="ja-JP" sz="2800" dirty="0">
              <a:latin typeface="ＭＳ 明朝" panose="02020609040205080304" pitchFamily="17" charset="-128"/>
              <a:ea typeface="ＭＳ 明朝" panose="02020609040205080304" pitchFamily="17" charset="-128"/>
            </a:endParaRPr>
          </a:p>
          <a:p>
            <a:pPr marL="0" indent="0" algn="ctr">
              <a:buNone/>
            </a:pPr>
            <a:r>
              <a:rPr lang="ja-JP" altLang="en-US" sz="2800" dirty="0">
                <a:latin typeface="ＭＳ 明朝" panose="02020609040205080304" pitchFamily="17" charset="-128"/>
                <a:ea typeface="ＭＳ 明朝" panose="02020609040205080304" pitchFamily="17" charset="-128"/>
              </a:rPr>
              <a:t>数が多かったり、タイミングが複雑</a:t>
            </a:r>
            <a:endParaRPr lang="en-US" altLang="ja-JP" sz="2800" dirty="0">
              <a:latin typeface="ＭＳ 明朝" panose="02020609040205080304" pitchFamily="17" charset="-128"/>
              <a:ea typeface="ＭＳ 明朝" panose="02020609040205080304" pitchFamily="17" charset="-128"/>
            </a:endParaRPr>
          </a:p>
          <a:p>
            <a:pPr marL="0" indent="0">
              <a:buNone/>
            </a:pPr>
            <a:r>
              <a:rPr kumimoji="1" lang="ja-JP" altLang="en-US" sz="2800" dirty="0">
                <a:latin typeface="ＭＳ 明朝" panose="02020609040205080304" pitchFamily="17" charset="-128"/>
                <a:ea typeface="ＭＳ 明朝" panose="02020609040205080304" pitchFamily="17" charset="-128"/>
              </a:rPr>
              <a:t>薬剤師の説明が一度きりであり、家に帰ると忘れる人多数</a:t>
            </a:r>
          </a:p>
        </p:txBody>
      </p:sp>
    </p:spTree>
    <p:extLst>
      <p:ext uri="{BB962C8B-B14F-4D97-AF65-F5344CB8AC3E}">
        <p14:creationId xmlns:p14="http://schemas.microsoft.com/office/powerpoint/2010/main" val="6208334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D6DB7DB-DF3F-401E-B64C-877ED29FC222}"/>
              </a:ext>
            </a:extLst>
          </p:cNvPr>
          <p:cNvSpPr>
            <a:spLocks noGrp="1"/>
          </p:cNvSpPr>
          <p:nvPr>
            <p:ph type="title"/>
          </p:nvPr>
        </p:nvSpPr>
        <p:spPr/>
        <p:txBody>
          <a:bodyPr>
            <a:normAutofit/>
          </a:bodyPr>
          <a:lstStyle/>
          <a:p>
            <a:pPr algn="ctr"/>
            <a:r>
              <a:rPr kumimoji="1" lang="ja-JP" altLang="en-US" sz="6000" dirty="0">
                <a:latin typeface="ＭＳ 明朝" panose="02020609040205080304" pitchFamily="17" charset="-128"/>
                <a:ea typeface="ＭＳ 明朝" panose="02020609040205080304" pitchFamily="17" charset="-128"/>
              </a:rPr>
              <a:t>現状の課題</a:t>
            </a:r>
          </a:p>
        </p:txBody>
      </p:sp>
      <p:sp>
        <p:nvSpPr>
          <p:cNvPr id="3" name="コンテンツ プレースホルダー 2">
            <a:extLst>
              <a:ext uri="{FF2B5EF4-FFF2-40B4-BE49-F238E27FC236}">
                <a16:creationId xmlns:a16="http://schemas.microsoft.com/office/drawing/2014/main" id="{8B6F5EBF-81CD-44D1-88C2-870226EEBC26}"/>
              </a:ext>
            </a:extLst>
          </p:cNvPr>
          <p:cNvSpPr>
            <a:spLocks noGrp="1"/>
          </p:cNvSpPr>
          <p:nvPr>
            <p:ph idx="1"/>
          </p:nvPr>
        </p:nvSpPr>
        <p:spPr>
          <a:xfrm>
            <a:off x="1451580" y="2293639"/>
            <a:ext cx="9603274" cy="3147939"/>
          </a:xfrm>
        </p:spPr>
        <p:txBody>
          <a:bodyPr>
            <a:noAutofit/>
          </a:bodyPr>
          <a:lstStyle/>
          <a:p>
            <a:pPr marL="0" indent="0">
              <a:buNone/>
            </a:pPr>
            <a:r>
              <a:rPr kumimoji="1" lang="ja-JP" altLang="en-US" sz="2800" dirty="0">
                <a:latin typeface="ＭＳ 明朝" panose="02020609040205080304" pitchFamily="17" charset="-128"/>
                <a:ea typeface="ＭＳ 明朝" panose="02020609040205080304" pitchFamily="17" charset="-128"/>
              </a:rPr>
              <a:t>現状では、薬局は服薬後のフォローがしにくい</a:t>
            </a:r>
            <a:endParaRPr kumimoji="1" lang="en-US" altLang="ja-JP" sz="2800" dirty="0">
              <a:latin typeface="ＭＳ 明朝" panose="02020609040205080304" pitchFamily="17" charset="-128"/>
              <a:ea typeface="ＭＳ 明朝" panose="02020609040205080304" pitchFamily="17" charset="-128"/>
            </a:endParaRPr>
          </a:p>
          <a:p>
            <a:pPr marL="0" indent="0">
              <a:buNone/>
            </a:pPr>
            <a:r>
              <a:rPr kumimoji="1" lang="ja-JP" altLang="en-US" sz="2800" dirty="0">
                <a:latin typeface="ＭＳ 明朝" panose="02020609040205080304" pitchFamily="17" charset="-128"/>
                <a:ea typeface="ＭＳ 明朝" panose="02020609040205080304" pitchFamily="17" charset="-128"/>
              </a:rPr>
              <a:t>家族と離れて暮らしていると服薬状況の確認ができない</a:t>
            </a:r>
            <a:endParaRPr kumimoji="1" lang="en-US" altLang="ja-JP" sz="2800" dirty="0">
              <a:latin typeface="ＭＳ 明朝" panose="02020609040205080304" pitchFamily="17" charset="-128"/>
              <a:ea typeface="ＭＳ 明朝" panose="02020609040205080304" pitchFamily="17" charset="-128"/>
            </a:endParaRPr>
          </a:p>
          <a:p>
            <a:pPr marL="0" indent="0">
              <a:buNone/>
            </a:pPr>
            <a:endParaRPr lang="en-US" altLang="ja-JP" sz="2800" dirty="0">
              <a:latin typeface="ＭＳ 明朝" panose="02020609040205080304" pitchFamily="17" charset="-128"/>
              <a:ea typeface="ＭＳ 明朝" panose="02020609040205080304" pitchFamily="17" charset="-128"/>
            </a:endParaRPr>
          </a:p>
          <a:p>
            <a:pPr marL="0" indent="0">
              <a:buNone/>
            </a:pPr>
            <a:r>
              <a:rPr kumimoji="1" lang="ja-JP" altLang="en-US" sz="2800" dirty="0">
                <a:latin typeface="ＭＳ 明朝" panose="02020609040205080304" pitchFamily="17" charset="-128"/>
                <a:ea typeface="ＭＳ 明朝" panose="02020609040205080304" pitchFamily="17" charset="-128"/>
              </a:rPr>
              <a:t>　　　　　　　　　　　　  ↓　</a:t>
            </a:r>
            <a:endParaRPr kumimoji="1" lang="en-US" altLang="ja-JP" sz="2800" dirty="0">
              <a:latin typeface="ＭＳ 明朝" panose="02020609040205080304" pitchFamily="17" charset="-128"/>
              <a:ea typeface="ＭＳ 明朝" panose="02020609040205080304" pitchFamily="17" charset="-128"/>
            </a:endParaRPr>
          </a:p>
          <a:p>
            <a:pPr marL="0" indent="0">
              <a:buNone/>
            </a:pPr>
            <a:endParaRPr lang="en-US" altLang="ja-JP" sz="2800" dirty="0">
              <a:latin typeface="ＭＳ 明朝" panose="02020609040205080304" pitchFamily="17" charset="-128"/>
              <a:ea typeface="ＭＳ 明朝" panose="02020609040205080304" pitchFamily="17" charset="-128"/>
            </a:endParaRPr>
          </a:p>
          <a:p>
            <a:pPr marL="0" indent="0">
              <a:buNone/>
            </a:pPr>
            <a:r>
              <a:rPr kumimoji="1" lang="en-US" altLang="ja-JP" sz="2800" dirty="0">
                <a:latin typeface="ＭＳ 明朝" panose="02020609040205080304" pitchFamily="17" charset="-128"/>
                <a:ea typeface="ＭＳ 明朝" panose="02020609040205080304" pitchFamily="17" charset="-128"/>
              </a:rPr>
              <a:t>“</a:t>
            </a:r>
            <a:r>
              <a:rPr lang="ja-JP" altLang="en-US" sz="2800" dirty="0">
                <a:latin typeface="ＭＳ 明朝" panose="02020609040205080304" pitchFamily="17" charset="-128"/>
                <a:ea typeface="ＭＳ 明朝" panose="02020609040205080304" pitchFamily="17" charset="-128"/>
              </a:rPr>
              <a:t>渡す</a:t>
            </a:r>
            <a:r>
              <a:rPr kumimoji="1" lang="ja-JP" altLang="en-US" sz="2800" dirty="0">
                <a:latin typeface="ＭＳ 明朝" panose="02020609040205080304" pitchFamily="17" charset="-128"/>
                <a:ea typeface="ＭＳ 明朝" panose="02020609040205080304" pitchFamily="17" charset="-128"/>
              </a:rPr>
              <a:t>人</a:t>
            </a:r>
            <a:r>
              <a:rPr kumimoji="1" lang="en-US" altLang="ja-JP" sz="2800" dirty="0">
                <a:latin typeface="ＭＳ 明朝" panose="02020609040205080304" pitchFamily="17" charset="-128"/>
                <a:ea typeface="ＭＳ 明朝" panose="02020609040205080304" pitchFamily="17" charset="-128"/>
              </a:rPr>
              <a:t>”,”</a:t>
            </a:r>
            <a:r>
              <a:rPr kumimoji="1" lang="ja-JP" altLang="en-US" sz="2800" dirty="0">
                <a:latin typeface="ＭＳ 明朝" panose="02020609040205080304" pitchFamily="17" charset="-128"/>
                <a:ea typeface="ＭＳ 明朝" panose="02020609040205080304" pitchFamily="17" charset="-128"/>
              </a:rPr>
              <a:t>飲む人</a:t>
            </a:r>
            <a:r>
              <a:rPr kumimoji="1" lang="en-US" altLang="ja-JP" sz="2800" dirty="0">
                <a:latin typeface="ＭＳ 明朝" panose="02020609040205080304" pitchFamily="17" charset="-128"/>
                <a:ea typeface="ＭＳ 明朝" panose="02020609040205080304" pitchFamily="17" charset="-128"/>
              </a:rPr>
              <a:t>”,”</a:t>
            </a:r>
            <a:r>
              <a:rPr kumimoji="1" lang="ja-JP" altLang="en-US" sz="2800" dirty="0">
                <a:latin typeface="ＭＳ 明朝" panose="02020609040205080304" pitchFamily="17" charset="-128"/>
                <a:ea typeface="ＭＳ 明朝" panose="02020609040205080304" pitchFamily="17" charset="-128"/>
              </a:rPr>
              <a:t>見守る人</a:t>
            </a:r>
            <a:r>
              <a:rPr kumimoji="1" lang="en-US" altLang="ja-JP" sz="2800" dirty="0">
                <a:latin typeface="ＭＳ 明朝" panose="02020609040205080304" pitchFamily="17" charset="-128"/>
                <a:ea typeface="ＭＳ 明朝" panose="02020609040205080304" pitchFamily="17" charset="-128"/>
              </a:rPr>
              <a:t>”</a:t>
            </a:r>
            <a:r>
              <a:rPr kumimoji="1" lang="ja-JP" altLang="en-US" sz="2800" dirty="0">
                <a:latin typeface="ＭＳ 明朝" panose="02020609040205080304" pitchFamily="17" charset="-128"/>
                <a:ea typeface="ＭＳ 明朝" panose="02020609040205080304" pitchFamily="17" charset="-128"/>
              </a:rPr>
              <a:t>がバラバラになる</a:t>
            </a:r>
            <a:endParaRPr kumimoji="1" lang="en-US" altLang="ja-JP" sz="2800" dirty="0">
              <a:latin typeface="ＭＳ 明朝" panose="02020609040205080304" pitchFamily="17" charset="-128"/>
              <a:ea typeface="ＭＳ 明朝" panose="02020609040205080304" pitchFamily="17" charset="-128"/>
            </a:endParaRPr>
          </a:p>
        </p:txBody>
      </p:sp>
    </p:spTree>
    <p:extLst>
      <p:ext uri="{BB962C8B-B14F-4D97-AF65-F5344CB8AC3E}">
        <p14:creationId xmlns:p14="http://schemas.microsoft.com/office/powerpoint/2010/main" val="33045747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39576E0-517D-4F15-90E2-9E5E909D7ED7}"/>
              </a:ext>
            </a:extLst>
          </p:cNvPr>
          <p:cNvSpPr>
            <a:spLocks noGrp="1"/>
          </p:cNvSpPr>
          <p:nvPr>
            <p:ph type="title"/>
          </p:nvPr>
        </p:nvSpPr>
        <p:spPr>
          <a:xfrm>
            <a:off x="838199" y="714749"/>
            <a:ext cx="10515600" cy="1325563"/>
          </a:xfrm>
        </p:spPr>
        <p:txBody>
          <a:bodyPr>
            <a:normAutofit/>
          </a:bodyPr>
          <a:lstStyle/>
          <a:p>
            <a:pPr algn="ctr"/>
            <a:r>
              <a:rPr kumimoji="1" lang="ja-JP" altLang="en-US" sz="6000" dirty="0">
                <a:latin typeface="ＭＳ 明朝" panose="02020609040205080304" pitchFamily="17" charset="-128"/>
                <a:ea typeface="ＭＳ 明朝" panose="02020609040205080304" pitchFamily="17" charset="-128"/>
              </a:rPr>
              <a:t>課題の影響</a:t>
            </a:r>
          </a:p>
        </p:txBody>
      </p:sp>
      <p:sp>
        <p:nvSpPr>
          <p:cNvPr id="3" name="コンテンツ プレースホルダー 2">
            <a:extLst>
              <a:ext uri="{FF2B5EF4-FFF2-40B4-BE49-F238E27FC236}">
                <a16:creationId xmlns:a16="http://schemas.microsoft.com/office/drawing/2014/main" id="{501BF7E7-6852-453A-AB1D-DA1EBE2B958D}"/>
              </a:ext>
            </a:extLst>
          </p:cNvPr>
          <p:cNvSpPr>
            <a:spLocks noGrp="1"/>
          </p:cNvSpPr>
          <p:nvPr>
            <p:ph idx="1"/>
          </p:nvPr>
        </p:nvSpPr>
        <p:spPr>
          <a:xfrm>
            <a:off x="207236" y="3019919"/>
            <a:ext cx="9802120" cy="1589789"/>
          </a:xfrm>
        </p:spPr>
        <p:txBody>
          <a:bodyPr>
            <a:noAutofit/>
          </a:bodyPr>
          <a:lstStyle/>
          <a:p>
            <a:pPr marL="0" indent="0">
              <a:buNone/>
            </a:pPr>
            <a:r>
              <a:rPr kumimoji="1" lang="ja-JP" altLang="en-US" sz="2800" dirty="0">
                <a:latin typeface="ＭＳ 明朝" panose="02020609040205080304" pitchFamily="17" charset="-128"/>
                <a:ea typeface="ＭＳ 明朝" panose="02020609040205080304" pitchFamily="17" charset="-128"/>
              </a:rPr>
              <a:t>　　①患者</a:t>
            </a:r>
            <a:r>
              <a:rPr kumimoji="1" lang="en-US" altLang="ja-JP" sz="2800" dirty="0">
                <a:latin typeface="ＭＳ 明朝" panose="02020609040205080304" pitchFamily="17" charset="-128"/>
                <a:ea typeface="ＭＳ 明朝" panose="02020609040205080304" pitchFamily="17" charset="-128"/>
              </a:rPr>
              <a:t>(</a:t>
            </a:r>
            <a:r>
              <a:rPr kumimoji="1" lang="ja-JP" altLang="en-US" sz="2800" dirty="0">
                <a:latin typeface="ＭＳ 明朝" panose="02020609040205080304" pitchFamily="17" charset="-128"/>
                <a:ea typeface="ＭＳ 明朝" panose="02020609040205080304" pitchFamily="17" charset="-128"/>
              </a:rPr>
              <a:t>健康悪化</a:t>
            </a:r>
            <a:r>
              <a:rPr kumimoji="1" lang="en-US" altLang="ja-JP" sz="2800" dirty="0">
                <a:latin typeface="ＭＳ 明朝" panose="02020609040205080304" pitchFamily="17" charset="-128"/>
                <a:ea typeface="ＭＳ 明朝" panose="02020609040205080304" pitchFamily="17" charset="-128"/>
              </a:rPr>
              <a:t>)</a:t>
            </a:r>
            <a:r>
              <a:rPr kumimoji="1" lang="ja-JP" altLang="en-US" sz="2800" dirty="0">
                <a:latin typeface="ＭＳ 明朝" panose="02020609040205080304" pitchFamily="17" charset="-128"/>
                <a:ea typeface="ＭＳ 明朝" panose="02020609040205080304" pitchFamily="17" charset="-128"/>
              </a:rPr>
              <a:t>　　　</a:t>
            </a:r>
            <a:r>
              <a:rPr lang="ja-JP" altLang="en-US" sz="2800" dirty="0">
                <a:latin typeface="ＭＳ 明朝" panose="02020609040205080304" pitchFamily="17" charset="-128"/>
                <a:ea typeface="ＭＳ 明朝" panose="02020609040205080304" pitchFamily="17" charset="-128"/>
              </a:rPr>
              <a:t>②</a:t>
            </a:r>
            <a:r>
              <a:rPr kumimoji="1" lang="ja-JP" altLang="en-US" sz="2800" dirty="0">
                <a:latin typeface="ＭＳ 明朝" panose="02020609040205080304" pitchFamily="17" charset="-128"/>
                <a:ea typeface="ＭＳ 明朝" panose="02020609040205080304" pitchFamily="17" charset="-128"/>
              </a:rPr>
              <a:t>薬局</a:t>
            </a:r>
            <a:r>
              <a:rPr kumimoji="1" lang="en-US" altLang="ja-JP" sz="2800" dirty="0">
                <a:latin typeface="ＭＳ 明朝" panose="02020609040205080304" pitchFamily="17" charset="-128"/>
                <a:ea typeface="ＭＳ 明朝" panose="02020609040205080304" pitchFamily="17" charset="-128"/>
              </a:rPr>
              <a:t>(</a:t>
            </a:r>
            <a:r>
              <a:rPr kumimoji="1" lang="ja-JP" altLang="en-US" sz="2800" dirty="0">
                <a:latin typeface="ＭＳ 明朝" panose="02020609040205080304" pitchFamily="17" charset="-128"/>
                <a:ea typeface="ＭＳ 明朝" panose="02020609040205080304" pitchFamily="17" charset="-128"/>
              </a:rPr>
              <a:t>対応負担</a:t>
            </a:r>
            <a:r>
              <a:rPr kumimoji="1" lang="en-US" altLang="ja-JP" sz="2800" dirty="0">
                <a:latin typeface="ＭＳ 明朝" panose="02020609040205080304" pitchFamily="17" charset="-128"/>
                <a:ea typeface="ＭＳ 明朝" panose="02020609040205080304" pitchFamily="17" charset="-128"/>
              </a:rPr>
              <a:t>)</a:t>
            </a:r>
          </a:p>
          <a:p>
            <a:pPr marL="0" indent="0">
              <a:buNone/>
            </a:pPr>
            <a:r>
              <a:rPr lang="ja-JP" altLang="en-US" sz="2800" dirty="0">
                <a:latin typeface="ＭＳ 明朝" panose="02020609040205080304" pitchFamily="17" charset="-128"/>
                <a:ea typeface="ＭＳ 明朝" panose="02020609040205080304" pitchFamily="17" charset="-128"/>
              </a:rPr>
              <a:t>　　③家族　　　　　　　　④</a:t>
            </a:r>
            <a:r>
              <a:rPr kumimoji="1" lang="ja-JP" altLang="en-US" sz="2800" dirty="0">
                <a:latin typeface="ＭＳ 明朝" panose="02020609040205080304" pitchFamily="17" charset="-128"/>
                <a:ea typeface="ＭＳ 明朝" panose="02020609040205080304" pitchFamily="17" charset="-128"/>
              </a:rPr>
              <a:t>医療費</a:t>
            </a:r>
            <a:r>
              <a:rPr kumimoji="1" lang="en-US" altLang="ja-JP" sz="2800" dirty="0">
                <a:latin typeface="ＭＳ 明朝" panose="02020609040205080304" pitchFamily="17" charset="-128"/>
                <a:ea typeface="ＭＳ 明朝" panose="02020609040205080304" pitchFamily="17" charset="-128"/>
              </a:rPr>
              <a:t>(</a:t>
            </a:r>
            <a:r>
              <a:rPr kumimoji="1" lang="ja-JP" altLang="en-US" sz="2800" dirty="0">
                <a:latin typeface="ＭＳ 明朝" panose="02020609040205080304" pitchFamily="17" charset="-128"/>
                <a:ea typeface="ＭＳ 明朝" panose="02020609040205080304" pitchFamily="17" charset="-128"/>
              </a:rPr>
              <a:t>社会コスト増</a:t>
            </a:r>
            <a:r>
              <a:rPr kumimoji="1" lang="en-US" altLang="ja-JP" sz="2800" dirty="0">
                <a:latin typeface="ＭＳ 明朝" panose="02020609040205080304" pitchFamily="17" charset="-128"/>
                <a:ea typeface="ＭＳ 明朝" panose="02020609040205080304" pitchFamily="17" charset="-128"/>
              </a:rPr>
              <a:t>)</a:t>
            </a:r>
          </a:p>
          <a:p>
            <a:pPr marL="0" indent="0">
              <a:buNone/>
            </a:pPr>
            <a:endParaRPr lang="en-US" altLang="ja-JP" sz="2800" dirty="0">
              <a:latin typeface="ＭＳ 明朝" panose="02020609040205080304" pitchFamily="17" charset="-128"/>
              <a:ea typeface="ＭＳ 明朝" panose="02020609040205080304" pitchFamily="17" charset="-128"/>
            </a:endParaRPr>
          </a:p>
        </p:txBody>
      </p:sp>
      <p:pic>
        <p:nvPicPr>
          <p:cNvPr id="5" name="図 4">
            <a:extLst>
              <a:ext uri="{FF2B5EF4-FFF2-40B4-BE49-F238E27FC236}">
                <a16:creationId xmlns:a16="http://schemas.microsoft.com/office/drawing/2014/main" id="{D515F8D9-5D7E-4023-8F65-21AB6D4853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38276" y="3725918"/>
            <a:ext cx="3269036" cy="2417333"/>
          </a:xfrm>
          <a:prstGeom prst="rect">
            <a:avLst/>
          </a:prstGeom>
        </p:spPr>
      </p:pic>
    </p:spTree>
    <p:extLst>
      <p:ext uri="{BB962C8B-B14F-4D97-AF65-F5344CB8AC3E}">
        <p14:creationId xmlns:p14="http://schemas.microsoft.com/office/powerpoint/2010/main" val="5014715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399D781-54D1-4D65-9AFA-496691C858E1}"/>
              </a:ext>
            </a:extLst>
          </p:cNvPr>
          <p:cNvSpPr>
            <a:spLocks noGrp="1"/>
          </p:cNvSpPr>
          <p:nvPr>
            <p:ph type="title"/>
          </p:nvPr>
        </p:nvSpPr>
        <p:spPr>
          <a:xfrm>
            <a:off x="838200" y="849219"/>
            <a:ext cx="10515600" cy="1325563"/>
          </a:xfrm>
        </p:spPr>
        <p:txBody>
          <a:bodyPr>
            <a:normAutofit/>
          </a:bodyPr>
          <a:lstStyle/>
          <a:p>
            <a:pPr algn="ctr"/>
            <a:r>
              <a:rPr kumimoji="1" lang="ja-JP" altLang="en-US" sz="6600" dirty="0">
                <a:latin typeface="ＭＳ 明朝" panose="02020609040205080304" pitchFamily="17" charset="-128"/>
                <a:ea typeface="ＭＳ 明朝" panose="02020609040205080304" pitchFamily="17" charset="-128"/>
              </a:rPr>
              <a:t>コンセプト</a:t>
            </a:r>
          </a:p>
        </p:txBody>
      </p:sp>
      <p:sp>
        <p:nvSpPr>
          <p:cNvPr id="3" name="コンテンツ プレースホルダー 2">
            <a:extLst>
              <a:ext uri="{FF2B5EF4-FFF2-40B4-BE49-F238E27FC236}">
                <a16:creationId xmlns:a16="http://schemas.microsoft.com/office/drawing/2014/main" id="{514D6AA1-D57D-4BD0-BF40-8E534B4D492E}"/>
              </a:ext>
            </a:extLst>
          </p:cNvPr>
          <p:cNvSpPr>
            <a:spLocks noGrp="1"/>
          </p:cNvSpPr>
          <p:nvPr>
            <p:ph idx="1"/>
          </p:nvPr>
        </p:nvSpPr>
        <p:spPr>
          <a:xfrm>
            <a:off x="838199" y="2668447"/>
            <a:ext cx="10515601" cy="1521106"/>
          </a:xfrm>
        </p:spPr>
        <p:txBody>
          <a:bodyPr>
            <a:noAutofit/>
          </a:bodyPr>
          <a:lstStyle/>
          <a:p>
            <a:pPr marL="0" indent="0">
              <a:buNone/>
            </a:pPr>
            <a:r>
              <a:rPr kumimoji="1" lang="ja-JP" altLang="en-US" sz="3600" dirty="0">
                <a:latin typeface="ＭＳ 明朝" panose="02020609040205080304" pitchFamily="17" charset="-128"/>
                <a:ea typeface="ＭＳ 明朝" panose="02020609040205080304" pitchFamily="17" charset="-128"/>
              </a:rPr>
              <a:t>　　　　</a:t>
            </a:r>
            <a:r>
              <a:rPr kumimoji="1" lang="en-US" altLang="ja-JP" sz="3600" dirty="0">
                <a:latin typeface="ＭＳ 明朝" panose="02020609040205080304" pitchFamily="17" charset="-128"/>
                <a:ea typeface="ＭＳ 明朝" panose="02020609040205080304" pitchFamily="17" charset="-128"/>
              </a:rPr>
              <a:t>AI</a:t>
            </a:r>
            <a:r>
              <a:rPr kumimoji="1" lang="ja-JP" altLang="en-US" sz="3600" dirty="0">
                <a:latin typeface="ＭＳ 明朝" panose="02020609040205080304" pitchFamily="17" charset="-128"/>
                <a:ea typeface="ＭＳ 明朝" panose="02020609040205080304" pitchFamily="17" charset="-128"/>
              </a:rPr>
              <a:t>が服薬をサポートするシステム</a:t>
            </a:r>
            <a:endParaRPr kumimoji="1" lang="en-US" altLang="ja-JP" sz="3600" dirty="0">
              <a:latin typeface="ＭＳ 明朝" panose="02020609040205080304" pitchFamily="17" charset="-128"/>
              <a:ea typeface="ＭＳ 明朝" panose="02020609040205080304" pitchFamily="17" charset="-128"/>
            </a:endParaRPr>
          </a:p>
          <a:p>
            <a:pPr marL="0" indent="0" algn="ctr">
              <a:buNone/>
            </a:pPr>
            <a:r>
              <a:rPr kumimoji="1" lang="en-US" altLang="ja-JP" sz="3600" dirty="0">
                <a:latin typeface="ＭＳ 明朝" panose="02020609040205080304" pitchFamily="17" charset="-128"/>
                <a:ea typeface="ＭＳ 明朝" panose="02020609040205080304" pitchFamily="17" charset="-128"/>
              </a:rPr>
              <a:t>-</a:t>
            </a:r>
            <a:r>
              <a:rPr kumimoji="1" lang="ja-JP" altLang="en-US" sz="3600" dirty="0">
                <a:latin typeface="ＭＳ 明朝" panose="02020609040205080304" pitchFamily="17" charset="-128"/>
                <a:ea typeface="ＭＳ 明朝" panose="02020609040205080304" pitchFamily="17" charset="-128"/>
              </a:rPr>
              <a:t>「見える化」「継続」</a:t>
            </a:r>
            <a:r>
              <a:rPr kumimoji="1" lang="en-US" altLang="ja-JP" sz="3600" dirty="0">
                <a:latin typeface="ＭＳ 明朝" panose="02020609040205080304" pitchFamily="17" charset="-128"/>
                <a:ea typeface="ＭＳ 明朝" panose="02020609040205080304" pitchFamily="17" charset="-128"/>
              </a:rPr>
              <a:t>-</a:t>
            </a:r>
          </a:p>
          <a:p>
            <a:pPr marL="0" indent="0">
              <a:buNone/>
            </a:pPr>
            <a:endParaRPr kumimoji="1" lang="ja-JP" altLang="en-US" sz="3600" dirty="0">
              <a:latin typeface="ＭＳ 明朝" panose="02020609040205080304" pitchFamily="17" charset="-128"/>
              <a:ea typeface="ＭＳ 明朝" panose="02020609040205080304" pitchFamily="17" charset="-128"/>
            </a:endParaRPr>
          </a:p>
        </p:txBody>
      </p:sp>
    </p:spTree>
    <p:extLst>
      <p:ext uri="{BB962C8B-B14F-4D97-AF65-F5344CB8AC3E}">
        <p14:creationId xmlns:p14="http://schemas.microsoft.com/office/powerpoint/2010/main" val="33960302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3281B8-D15B-4E5F-8726-0C79E22BAF48}"/>
              </a:ext>
            </a:extLst>
          </p:cNvPr>
          <p:cNvSpPr>
            <a:spLocks noGrp="1"/>
          </p:cNvSpPr>
          <p:nvPr>
            <p:ph type="title"/>
          </p:nvPr>
        </p:nvSpPr>
        <p:spPr/>
        <p:txBody>
          <a:bodyPr>
            <a:normAutofit/>
          </a:bodyPr>
          <a:lstStyle/>
          <a:p>
            <a:pPr algn="ctr"/>
            <a:r>
              <a:rPr kumimoji="1" lang="en-US" altLang="ja-JP" sz="6600" dirty="0">
                <a:latin typeface="ＭＳ 明朝" panose="02020609040205080304" pitchFamily="17" charset="-128"/>
                <a:ea typeface="ＭＳ 明朝" panose="02020609040205080304" pitchFamily="17" charset="-128"/>
              </a:rPr>
              <a:t>AI</a:t>
            </a:r>
            <a:r>
              <a:rPr kumimoji="1" lang="ja-JP" altLang="en-US" sz="6600" dirty="0">
                <a:latin typeface="ＭＳ 明朝" panose="02020609040205080304" pitchFamily="17" charset="-128"/>
                <a:ea typeface="ＭＳ 明朝" panose="02020609040205080304" pitchFamily="17" charset="-128"/>
              </a:rPr>
              <a:t>の役割</a:t>
            </a:r>
          </a:p>
        </p:txBody>
      </p:sp>
      <p:sp>
        <p:nvSpPr>
          <p:cNvPr id="3" name="コンテンツ プレースホルダー 2">
            <a:extLst>
              <a:ext uri="{FF2B5EF4-FFF2-40B4-BE49-F238E27FC236}">
                <a16:creationId xmlns:a16="http://schemas.microsoft.com/office/drawing/2014/main" id="{50298F62-E006-4711-A82B-5B44075CF3D4}"/>
              </a:ext>
            </a:extLst>
          </p:cNvPr>
          <p:cNvSpPr>
            <a:spLocks noGrp="1"/>
          </p:cNvSpPr>
          <p:nvPr>
            <p:ph idx="1"/>
          </p:nvPr>
        </p:nvSpPr>
        <p:spPr>
          <a:xfrm>
            <a:off x="1451579" y="2484115"/>
            <a:ext cx="9603275" cy="2708668"/>
          </a:xfrm>
        </p:spPr>
        <p:txBody>
          <a:bodyPr>
            <a:normAutofit/>
          </a:bodyPr>
          <a:lstStyle/>
          <a:p>
            <a:pPr marL="0" indent="0">
              <a:buNone/>
            </a:pPr>
            <a:r>
              <a:rPr lang="ja-JP" altLang="en-US" sz="2800" dirty="0">
                <a:latin typeface="ＭＳ 明朝" panose="02020609040205080304" pitchFamily="17" charset="-128"/>
                <a:ea typeface="ＭＳ 明朝" panose="02020609040205080304" pitchFamily="17" charset="-128"/>
              </a:rPr>
              <a:t>画像認識</a:t>
            </a:r>
            <a:endParaRPr lang="en-US" altLang="ja-JP" sz="2800" dirty="0">
              <a:latin typeface="ＭＳ 明朝" panose="02020609040205080304" pitchFamily="17" charset="-128"/>
              <a:ea typeface="ＭＳ 明朝" panose="02020609040205080304" pitchFamily="17" charset="-128"/>
            </a:endParaRPr>
          </a:p>
          <a:p>
            <a:pPr marL="0" indent="0">
              <a:buNone/>
            </a:pPr>
            <a:endParaRPr kumimoji="1" lang="en-US" altLang="ja-JP" sz="2800" dirty="0">
              <a:latin typeface="ＭＳ 明朝" panose="02020609040205080304" pitchFamily="17" charset="-128"/>
              <a:ea typeface="ＭＳ 明朝" panose="02020609040205080304" pitchFamily="17" charset="-128"/>
            </a:endParaRPr>
          </a:p>
          <a:p>
            <a:pPr marL="0" indent="0">
              <a:buNone/>
            </a:pPr>
            <a:r>
              <a:rPr lang="ja-JP" altLang="en-US" sz="2800" dirty="0">
                <a:latin typeface="ＭＳ 明朝" panose="02020609040205080304" pitchFamily="17" charset="-128"/>
                <a:ea typeface="ＭＳ 明朝" panose="02020609040205080304" pitchFamily="17" charset="-128"/>
              </a:rPr>
              <a:t>データ記録</a:t>
            </a:r>
            <a:endParaRPr kumimoji="1" lang="ja-JP" altLang="en-US" sz="2800" dirty="0">
              <a:latin typeface="ＭＳ 明朝" panose="02020609040205080304" pitchFamily="17" charset="-128"/>
              <a:ea typeface="ＭＳ 明朝" panose="02020609040205080304" pitchFamily="17" charset="-128"/>
            </a:endParaRPr>
          </a:p>
        </p:txBody>
      </p:sp>
    </p:spTree>
    <p:extLst>
      <p:ext uri="{BB962C8B-B14F-4D97-AF65-F5344CB8AC3E}">
        <p14:creationId xmlns:p14="http://schemas.microsoft.com/office/powerpoint/2010/main" val="29550179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0F09C01-1628-41D0-9BE3-E7F52BC05AF8}"/>
              </a:ext>
            </a:extLst>
          </p:cNvPr>
          <p:cNvSpPr>
            <a:spLocks noGrp="1"/>
          </p:cNvSpPr>
          <p:nvPr>
            <p:ph type="title"/>
          </p:nvPr>
        </p:nvSpPr>
        <p:spPr/>
        <p:txBody>
          <a:bodyPr>
            <a:normAutofit/>
          </a:bodyPr>
          <a:lstStyle/>
          <a:p>
            <a:pPr algn="ctr"/>
            <a:r>
              <a:rPr kumimoji="1" lang="ja-JP" altLang="en-US" sz="6600" dirty="0">
                <a:latin typeface="ＭＳ 明朝" panose="02020609040205080304" pitchFamily="17" charset="-128"/>
                <a:ea typeface="ＭＳ 明朝" panose="02020609040205080304" pitchFamily="17" charset="-128"/>
              </a:rPr>
              <a:t>流れ</a:t>
            </a:r>
            <a:r>
              <a:rPr kumimoji="1" lang="en-US" altLang="ja-JP" sz="6600" dirty="0">
                <a:latin typeface="ＭＳ 明朝" panose="02020609040205080304" pitchFamily="17" charset="-128"/>
                <a:ea typeface="ＭＳ 明朝" panose="02020609040205080304" pitchFamily="17" charset="-128"/>
              </a:rPr>
              <a:t>(</a:t>
            </a:r>
            <a:r>
              <a:rPr kumimoji="1" lang="ja-JP" altLang="en-US" sz="6600" dirty="0">
                <a:latin typeface="ＭＳ 明朝" panose="02020609040205080304" pitchFamily="17" charset="-128"/>
                <a:ea typeface="ＭＳ 明朝" panose="02020609040205080304" pitchFamily="17" charset="-128"/>
              </a:rPr>
              <a:t>患者側</a:t>
            </a:r>
            <a:r>
              <a:rPr kumimoji="1" lang="en-US" altLang="ja-JP" sz="6600" dirty="0">
                <a:latin typeface="ＭＳ 明朝" panose="02020609040205080304" pitchFamily="17" charset="-128"/>
                <a:ea typeface="ＭＳ 明朝" panose="02020609040205080304" pitchFamily="17" charset="-128"/>
              </a:rPr>
              <a:t>)</a:t>
            </a:r>
            <a:endParaRPr kumimoji="1" lang="ja-JP" altLang="en-US" sz="6600" dirty="0">
              <a:latin typeface="ＭＳ 明朝" panose="02020609040205080304" pitchFamily="17" charset="-128"/>
              <a:ea typeface="ＭＳ 明朝" panose="02020609040205080304" pitchFamily="17" charset="-128"/>
            </a:endParaRPr>
          </a:p>
        </p:txBody>
      </p:sp>
      <p:graphicFrame>
        <p:nvGraphicFramePr>
          <p:cNvPr id="4" name="コンテンツ プレースホルダー 3">
            <a:extLst>
              <a:ext uri="{FF2B5EF4-FFF2-40B4-BE49-F238E27FC236}">
                <a16:creationId xmlns:a16="http://schemas.microsoft.com/office/drawing/2014/main" id="{3A4418AA-D26E-4784-9FB5-7C810CA34D65}"/>
              </a:ext>
            </a:extLst>
          </p:cNvPr>
          <p:cNvGraphicFramePr>
            <a:graphicFrameLocks noGrp="1"/>
          </p:cNvGraphicFramePr>
          <p:nvPr>
            <p:ph idx="1"/>
            <p:extLst>
              <p:ext uri="{D42A27DB-BD31-4B8C-83A1-F6EECF244321}">
                <p14:modId xmlns:p14="http://schemas.microsoft.com/office/powerpoint/2010/main" val="886433306"/>
              </p:ext>
            </p:extLst>
          </p:nvPr>
        </p:nvGraphicFramePr>
        <p:xfrm>
          <a:off x="1211269" y="1998482"/>
          <a:ext cx="10083893" cy="347728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499932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2FB2675-324C-42C3-BD2B-368BDD1B4349}"/>
              </a:ext>
            </a:extLst>
          </p:cNvPr>
          <p:cNvSpPr>
            <a:spLocks noGrp="1"/>
          </p:cNvSpPr>
          <p:nvPr>
            <p:ph type="title"/>
          </p:nvPr>
        </p:nvSpPr>
        <p:spPr/>
        <p:txBody>
          <a:bodyPr>
            <a:normAutofit/>
          </a:bodyPr>
          <a:lstStyle/>
          <a:p>
            <a:pPr algn="ctr"/>
            <a:r>
              <a:rPr kumimoji="1" lang="ja-JP" altLang="en-US" sz="6600" dirty="0">
                <a:latin typeface="ＭＳ 明朝" panose="02020609040205080304" pitchFamily="17" charset="-128"/>
                <a:ea typeface="ＭＳ 明朝" panose="02020609040205080304" pitchFamily="17" charset="-128"/>
              </a:rPr>
              <a:t>流れ</a:t>
            </a:r>
            <a:r>
              <a:rPr kumimoji="1" lang="en-US" altLang="ja-JP" sz="6600" dirty="0">
                <a:latin typeface="ＭＳ 明朝" panose="02020609040205080304" pitchFamily="17" charset="-128"/>
                <a:ea typeface="ＭＳ 明朝" panose="02020609040205080304" pitchFamily="17" charset="-128"/>
              </a:rPr>
              <a:t>(</a:t>
            </a:r>
            <a:r>
              <a:rPr kumimoji="1" lang="ja-JP" altLang="en-US" sz="6600" dirty="0">
                <a:latin typeface="ＭＳ 明朝" panose="02020609040205080304" pitchFamily="17" charset="-128"/>
                <a:ea typeface="ＭＳ 明朝" panose="02020609040205080304" pitchFamily="17" charset="-128"/>
              </a:rPr>
              <a:t>薬局側</a:t>
            </a:r>
            <a:r>
              <a:rPr kumimoji="1" lang="en-US" altLang="ja-JP" sz="6600" dirty="0">
                <a:latin typeface="ＭＳ 明朝" panose="02020609040205080304" pitchFamily="17" charset="-128"/>
                <a:ea typeface="ＭＳ 明朝" panose="02020609040205080304" pitchFamily="17" charset="-128"/>
              </a:rPr>
              <a:t>)</a:t>
            </a:r>
            <a:endParaRPr kumimoji="1" lang="ja-JP" altLang="en-US" sz="6600" dirty="0">
              <a:latin typeface="ＭＳ 明朝" panose="02020609040205080304" pitchFamily="17" charset="-128"/>
              <a:ea typeface="ＭＳ 明朝" panose="02020609040205080304" pitchFamily="17" charset="-128"/>
            </a:endParaRPr>
          </a:p>
        </p:txBody>
      </p:sp>
      <p:graphicFrame>
        <p:nvGraphicFramePr>
          <p:cNvPr id="4" name="コンテンツ プレースホルダー 3">
            <a:extLst>
              <a:ext uri="{FF2B5EF4-FFF2-40B4-BE49-F238E27FC236}">
                <a16:creationId xmlns:a16="http://schemas.microsoft.com/office/drawing/2014/main" id="{12A51677-5489-4ED4-9CEE-84B943EDEDBA}"/>
              </a:ext>
            </a:extLst>
          </p:cNvPr>
          <p:cNvGraphicFramePr>
            <a:graphicFrameLocks noGrp="1"/>
          </p:cNvGraphicFramePr>
          <p:nvPr>
            <p:ph idx="1"/>
            <p:extLst>
              <p:ext uri="{D42A27DB-BD31-4B8C-83A1-F6EECF244321}">
                <p14:modId xmlns:p14="http://schemas.microsoft.com/office/powerpoint/2010/main" val="2182849069"/>
              </p:ext>
            </p:extLst>
          </p:nvPr>
        </p:nvGraphicFramePr>
        <p:xfrm>
          <a:off x="1451579" y="2015732"/>
          <a:ext cx="9603275" cy="34506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802255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14C469F-31BE-42FC-9B5D-2AA320D3A1D4}"/>
              </a:ext>
            </a:extLst>
          </p:cNvPr>
          <p:cNvSpPr>
            <a:spLocks noGrp="1"/>
          </p:cNvSpPr>
          <p:nvPr>
            <p:ph type="title"/>
          </p:nvPr>
        </p:nvSpPr>
        <p:spPr/>
        <p:txBody>
          <a:bodyPr>
            <a:normAutofit/>
          </a:bodyPr>
          <a:lstStyle/>
          <a:p>
            <a:pPr algn="ctr"/>
            <a:r>
              <a:rPr kumimoji="1" lang="ja-JP" altLang="en-US" sz="6600" dirty="0">
                <a:latin typeface="ＭＳ 明朝" panose="02020609040205080304" pitchFamily="17" charset="-128"/>
                <a:ea typeface="ＭＳ 明朝" panose="02020609040205080304" pitchFamily="17" charset="-128"/>
              </a:rPr>
              <a:t>流れ</a:t>
            </a:r>
            <a:r>
              <a:rPr kumimoji="1" lang="en-US" altLang="ja-JP" sz="6600" dirty="0">
                <a:latin typeface="ＭＳ 明朝" panose="02020609040205080304" pitchFamily="17" charset="-128"/>
                <a:ea typeface="ＭＳ 明朝" panose="02020609040205080304" pitchFamily="17" charset="-128"/>
              </a:rPr>
              <a:t>(</a:t>
            </a:r>
            <a:r>
              <a:rPr kumimoji="1" lang="ja-JP" altLang="en-US" sz="6600" dirty="0">
                <a:latin typeface="ＭＳ 明朝" panose="02020609040205080304" pitchFamily="17" charset="-128"/>
                <a:ea typeface="ＭＳ 明朝" panose="02020609040205080304" pitchFamily="17" charset="-128"/>
              </a:rPr>
              <a:t>家族側</a:t>
            </a:r>
            <a:r>
              <a:rPr kumimoji="1" lang="en-US" altLang="ja-JP" sz="6600" dirty="0">
                <a:latin typeface="ＭＳ 明朝" panose="02020609040205080304" pitchFamily="17" charset="-128"/>
                <a:ea typeface="ＭＳ 明朝" panose="02020609040205080304" pitchFamily="17" charset="-128"/>
              </a:rPr>
              <a:t>)</a:t>
            </a:r>
            <a:endParaRPr kumimoji="1" lang="ja-JP" altLang="en-US" sz="6600" dirty="0">
              <a:latin typeface="ＭＳ 明朝" panose="02020609040205080304" pitchFamily="17" charset="-128"/>
              <a:ea typeface="ＭＳ 明朝" panose="02020609040205080304" pitchFamily="17" charset="-128"/>
            </a:endParaRPr>
          </a:p>
        </p:txBody>
      </p:sp>
      <p:graphicFrame>
        <p:nvGraphicFramePr>
          <p:cNvPr id="5" name="コンテンツ プレースホルダー 4">
            <a:extLst>
              <a:ext uri="{FF2B5EF4-FFF2-40B4-BE49-F238E27FC236}">
                <a16:creationId xmlns:a16="http://schemas.microsoft.com/office/drawing/2014/main" id="{1840AA0B-D2E4-4EBD-8EDF-A48EB91F99EC}"/>
              </a:ext>
            </a:extLst>
          </p:cNvPr>
          <p:cNvGraphicFramePr>
            <a:graphicFrameLocks noGrp="1"/>
          </p:cNvGraphicFramePr>
          <p:nvPr>
            <p:ph idx="1"/>
            <p:extLst>
              <p:ext uri="{D42A27DB-BD31-4B8C-83A1-F6EECF244321}">
                <p14:modId xmlns:p14="http://schemas.microsoft.com/office/powerpoint/2010/main" val="1331792079"/>
              </p:ext>
            </p:extLst>
          </p:nvPr>
        </p:nvGraphicFramePr>
        <p:xfrm>
          <a:off x="1451579" y="2015732"/>
          <a:ext cx="9603275" cy="34506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699165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EBF2DA5-775E-43D5-9B51-E403D39C1798}"/>
              </a:ext>
            </a:extLst>
          </p:cNvPr>
          <p:cNvSpPr>
            <a:spLocks noGrp="1"/>
          </p:cNvSpPr>
          <p:nvPr>
            <p:ph type="title"/>
          </p:nvPr>
        </p:nvSpPr>
        <p:spPr/>
        <p:txBody>
          <a:bodyPr>
            <a:normAutofit/>
          </a:bodyPr>
          <a:lstStyle/>
          <a:p>
            <a:pPr algn="ctr"/>
            <a:r>
              <a:rPr kumimoji="1" lang="ja-JP" altLang="en-US" sz="6000" dirty="0">
                <a:latin typeface="ＭＳ 明朝" panose="02020609040205080304" pitchFamily="17" charset="-128"/>
                <a:ea typeface="ＭＳ 明朝" panose="02020609040205080304" pitchFamily="17" charset="-128"/>
              </a:rPr>
              <a:t>システム概要</a:t>
            </a:r>
          </a:p>
        </p:txBody>
      </p:sp>
      <p:sp>
        <p:nvSpPr>
          <p:cNvPr id="3" name="コンテンツ プレースホルダー 2">
            <a:extLst>
              <a:ext uri="{FF2B5EF4-FFF2-40B4-BE49-F238E27FC236}">
                <a16:creationId xmlns:a16="http://schemas.microsoft.com/office/drawing/2014/main" id="{E820507B-15E3-452A-9359-68FD8FAD425C}"/>
              </a:ext>
            </a:extLst>
          </p:cNvPr>
          <p:cNvSpPr>
            <a:spLocks noGrp="1"/>
          </p:cNvSpPr>
          <p:nvPr>
            <p:ph idx="1"/>
          </p:nvPr>
        </p:nvSpPr>
        <p:spPr>
          <a:xfrm>
            <a:off x="485460" y="2478078"/>
            <a:ext cx="11535511" cy="1901844"/>
          </a:xfrm>
        </p:spPr>
        <p:txBody>
          <a:bodyPr>
            <a:normAutofit fontScale="25000" lnSpcReduction="20000"/>
          </a:bodyPr>
          <a:lstStyle/>
          <a:p>
            <a:pPr marL="0" indent="0">
              <a:buNone/>
            </a:pPr>
            <a:r>
              <a:rPr kumimoji="1" lang="ja-JP" altLang="en-US" sz="11200" dirty="0">
                <a:latin typeface="ＭＳ 明朝" panose="02020609040205080304" pitchFamily="17" charset="-128"/>
                <a:ea typeface="ＭＳ 明朝" panose="02020609040205080304" pitchFamily="17" charset="-128"/>
              </a:rPr>
              <a:t>フロントエンド</a:t>
            </a:r>
            <a:r>
              <a:rPr kumimoji="1" lang="en-US" altLang="ja-JP" sz="11200" dirty="0">
                <a:latin typeface="ＭＳ 明朝" panose="02020609040205080304" pitchFamily="17" charset="-128"/>
                <a:ea typeface="ＭＳ 明朝" panose="02020609040205080304" pitchFamily="17" charset="-128"/>
              </a:rPr>
              <a:t>:</a:t>
            </a:r>
          </a:p>
          <a:p>
            <a:pPr marL="0" indent="0">
              <a:buNone/>
            </a:pPr>
            <a:r>
              <a:rPr lang="en-US" altLang="ja-JP" sz="11200" dirty="0">
                <a:latin typeface="ＭＳ 明朝" panose="02020609040205080304" pitchFamily="17" charset="-128"/>
                <a:ea typeface="ＭＳ 明朝" panose="02020609040205080304" pitchFamily="17" charset="-128"/>
              </a:rPr>
              <a:t>			</a:t>
            </a:r>
            <a:r>
              <a:rPr kumimoji="1" lang="ja-JP" altLang="en-US" sz="11200" dirty="0">
                <a:latin typeface="ＭＳ 明朝" panose="02020609040205080304" pitchFamily="17" charset="-128"/>
                <a:ea typeface="ＭＳ 明朝" panose="02020609040205080304" pitchFamily="17" charset="-128"/>
              </a:rPr>
              <a:t>写真認証連携、</a:t>
            </a:r>
            <a:r>
              <a:rPr lang="ja-JP" altLang="en-US" sz="11200" dirty="0">
                <a:latin typeface="ＭＳ 明朝" panose="02020609040205080304" pitchFamily="17" charset="-128"/>
                <a:ea typeface="ＭＳ 明朝" panose="02020609040205080304" pitchFamily="17" charset="-128"/>
              </a:rPr>
              <a:t>家族</a:t>
            </a:r>
            <a:r>
              <a:rPr lang="en-US" altLang="ja-JP" sz="11200" dirty="0">
                <a:latin typeface="ＭＳ 明朝" panose="02020609040205080304" pitchFamily="17" charset="-128"/>
                <a:ea typeface="ＭＳ 明朝" panose="02020609040205080304" pitchFamily="17" charset="-128"/>
              </a:rPr>
              <a:t>/</a:t>
            </a:r>
            <a:r>
              <a:rPr lang="ja-JP" altLang="en-US" sz="11200" dirty="0">
                <a:latin typeface="ＭＳ 明朝" panose="02020609040205080304" pitchFamily="17" charset="-128"/>
                <a:ea typeface="ＭＳ 明朝" panose="02020609040205080304" pitchFamily="17" charset="-128"/>
              </a:rPr>
              <a:t>薬局ダッシュボード</a:t>
            </a:r>
            <a:endParaRPr kumimoji="1" lang="en-US" altLang="ja-JP" sz="11200" dirty="0">
              <a:latin typeface="ＭＳ 明朝" panose="02020609040205080304" pitchFamily="17" charset="-128"/>
              <a:ea typeface="ＭＳ 明朝" panose="02020609040205080304" pitchFamily="17" charset="-128"/>
            </a:endParaRPr>
          </a:p>
          <a:p>
            <a:pPr marL="0" indent="0">
              <a:buNone/>
            </a:pPr>
            <a:endParaRPr kumimoji="1" lang="en-US" altLang="ja-JP" sz="11200" dirty="0">
              <a:latin typeface="ＭＳ 明朝" panose="02020609040205080304" pitchFamily="17" charset="-128"/>
              <a:ea typeface="ＭＳ 明朝" panose="02020609040205080304" pitchFamily="17" charset="-128"/>
            </a:endParaRPr>
          </a:p>
          <a:p>
            <a:pPr marL="0" indent="0">
              <a:buNone/>
            </a:pPr>
            <a:r>
              <a:rPr lang="ja-JP" altLang="en-US" sz="11200" dirty="0">
                <a:latin typeface="ＭＳ 明朝" panose="02020609040205080304" pitchFamily="17" charset="-128"/>
                <a:ea typeface="ＭＳ 明朝" panose="02020609040205080304" pitchFamily="17" charset="-128"/>
              </a:rPr>
              <a:t>バックエンド</a:t>
            </a:r>
            <a:r>
              <a:rPr lang="en-US" altLang="ja-JP" sz="11200" dirty="0">
                <a:latin typeface="ＭＳ 明朝" panose="02020609040205080304" pitchFamily="17" charset="-128"/>
                <a:ea typeface="ＭＳ 明朝" panose="02020609040205080304" pitchFamily="17" charset="-128"/>
              </a:rPr>
              <a:t>: </a:t>
            </a:r>
          </a:p>
          <a:p>
            <a:pPr marL="0" indent="0">
              <a:buNone/>
            </a:pPr>
            <a:r>
              <a:rPr lang="en-US" altLang="ja-JP" sz="11200" dirty="0">
                <a:latin typeface="ＭＳ 明朝" panose="02020609040205080304" pitchFamily="17" charset="-128"/>
                <a:ea typeface="ＭＳ 明朝" panose="02020609040205080304" pitchFamily="17" charset="-128"/>
              </a:rPr>
              <a:t>			</a:t>
            </a:r>
            <a:r>
              <a:rPr lang="ja-JP" altLang="en-US" sz="11200" dirty="0">
                <a:latin typeface="ＭＳ 明朝" panose="02020609040205080304" pitchFamily="17" charset="-128"/>
                <a:ea typeface="ＭＳ 明朝" panose="02020609040205080304" pitchFamily="17" charset="-128"/>
              </a:rPr>
              <a:t>データ保存</a:t>
            </a:r>
            <a:r>
              <a:rPr kumimoji="1" lang="ja-JP" altLang="en-US" sz="2400" dirty="0">
                <a:latin typeface="ＭＳ 明朝" panose="02020609040205080304" pitchFamily="17" charset="-128"/>
                <a:ea typeface="ＭＳ 明朝" panose="02020609040205080304" pitchFamily="17" charset="-128"/>
              </a:rPr>
              <a:t>　　　　　　　</a:t>
            </a:r>
            <a:endParaRPr kumimoji="1" lang="en-US" altLang="ja-JP" sz="2400" dirty="0">
              <a:latin typeface="ＭＳ 明朝" panose="02020609040205080304" pitchFamily="17" charset="-128"/>
              <a:ea typeface="ＭＳ 明朝" panose="02020609040205080304" pitchFamily="17" charset="-128"/>
            </a:endParaRPr>
          </a:p>
          <a:p>
            <a:pPr marL="0" indent="0">
              <a:buNone/>
            </a:pPr>
            <a:endParaRPr kumimoji="1" lang="ja-JP" altLang="en-US" sz="2400" dirty="0">
              <a:latin typeface="ＭＳ 明朝" panose="02020609040205080304" pitchFamily="17" charset="-128"/>
              <a:ea typeface="ＭＳ 明朝" panose="02020609040205080304" pitchFamily="17" charset="-128"/>
            </a:endParaRPr>
          </a:p>
        </p:txBody>
      </p:sp>
    </p:spTree>
    <p:extLst>
      <p:ext uri="{BB962C8B-B14F-4D97-AF65-F5344CB8AC3E}">
        <p14:creationId xmlns:p14="http://schemas.microsoft.com/office/powerpoint/2010/main" val="14255533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EE4E600-2DAC-4416-AFA4-C4C0702CF95A}"/>
              </a:ext>
            </a:extLst>
          </p:cNvPr>
          <p:cNvSpPr>
            <a:spLocks noGrp="1"/>
          </p:cNvSpPr>
          <p:nvPr>
            <p:ph type="title"/>
          </p:nvPr>
        </p:nvSpPr>
        <p:spPr/>
        <p:txBody>
          <a:bodyPr>
            <a:normAutofit/>
          </a:bodyPr>
          <a:lstStyle/>
          <a:p>
            <a:pPr algn="ctr"/>
            <a:r>
              <a:rPr kumimoji="1" lang="ja-JP" altLang="en-US" sz="6000" dirty="0">
                <a:latin typeface="ＭＳ 明朝" panose="02020609040205080304" pitchFamily="17" charset="-128"/>
                <a:ea typeface="ＭＳ 明朝" panose="02020609040205080304" pitchFamily="17" charset="-128"/>
              </a:rPr>
              <a:t>技術構成</a:t>
            </a:r>
          </a:p>
        </p:txBody>
      </p:sp>
      <p:sp>
        <p:nvSpPr>
          <p:cNvPr id="3" name="コンテンツ プレースホルダー 2">
            <a:extLst>
              <a:ext uri="{FF2B5EF4-FFF2-40B4-BE49-F238E27FC236}">
                <a16:creationId xmlns:a16="http://schemas.microsoft.com/office/drawing/2014/main" id="{97BF9212-A35D-4FD0-9619-7AA240AD42B0}"/>
              </a:ext>
            </a:extLst>
          </p:cNvPr>
          <p:cNvSpPr>
            <a:spLocks noGrp="1"/>
          </p:cNvSpPr>
          <p:nvPr>
            <p:ph idx="1"/>
          </p:nvPr>
        </p:nvSpPr>
        <p:spPr>
          <a:xfrm>
            <a:off x="1451579" y="2011296"/>
            <a:ext cx="9603275" cy="3881929"/>
          </a:xfrm>
        </p:spPr>
        <p:txBody>
          <a:bodyPr>
            <a:normAutofit/>
          </a:bodyPr>
          <a:lstStyle/>
          <a:p>
            <a:pPr marL="0" indent="0">
              <a:buNone/>
            </a:pPr>
            <a:r>
              <a:rPr lang="ja-JP" altLang="en-US" sz="2800" dirty="0">
                <a:latin typeface="ＭＳ 明朝" panose="02020609040205080304" pitchFamily="17" charset="-128"/>
                <a:ea typeface="ＭＳ 明朝" panose="02020609040205080304" pitchFamily="17" charset="-128"/>
              </a:rPr>
              <a:t>フロントエンド</a:t>
            </a:r>
            <a:r>
              <a:rPr lang="en-US" altLang="ja-JP" sz="2800" dirty="0">
                <a:latin typeface="ＭＳ 明朝" panose="02020609040205080304" pitchFamily="17" charset="-128"/>
                <a:ea typeface="ＭＳ 明朝" panose="02020609040205080304" pitchFamily="17" charset="-128"/>
              </a:rPr>
              <a:t>: HTML/CSS/JavaScript</a:t>
            </a:r>
            <a:endParaRPr kumimoji="1" lang="en-US" altLang="ja-JP" sz="2800" dirty="0">
              <a:latin typeface="ＭＳ 明朝" panose="02020609040205080304" pitchFamily="17" charset="-128"/>
              <a:ea typeface="ＭＳ 明朝" panose="02020609040205080304" pitchFamily="17" charset="-128"/>
            </a:endParaRPr>
          </a:p>
          <a:p>
            <a:pPr marL="0" indent="0">
              <a:buNone/>
            </a:pPr>
            <a:r>
              <a:rPr lang="ja-JP" altLang="en-US" sz="2800" dirty="0">
                <a:latin typeface="ＭＳ 明朝" panose="02020609040205080304" pitchFamily="17" charset="-128"/>
                <a:ea typeface="ＭＳ 明朝" panose="02020609040205080304" pitchFamily="17" charset="-128"/>
              </a:rPr>
              <a:t>バックエンド</a:t>
            </a:r>
            <a:r>
              <a:rPr lang="en-US" altLang="ja-JP" sz="2800" dirty="0">
                <a:latin typeface="ＭＳ 明朝" panose="02020609040205080304" pitchFamily="17" charset="-128"/>
                <a:ea typeface="ＭＳ 明朝" panose="02020609040205080304" pitchFamily="17" charset="-128"/>
              </a:rPr>
              <a:t>: PHP</a:t>
            </a:r>
          </a:p>
          <a:p>
            <a:pPr marL="0" indent="0">
              <a:buNone/>
            </a:pPr>
            <a:r>
              <a:rPr kumimoji="1" lang="ja-JP" altLang="en-US" sz="2800" dirty="0">
                <a:latin typeface="ＭＳ 明朝" panose="02020609040205080304" pitchFamily="17" charset="-128"/>
                <a:ea typeface="ＭＳ 明朝" panose="02020609040205080304" pitchFamily="17" charset="-128"/>
              </a:rPr>
              <a:t>データベース</a:t>
            </a:r>
            <a:r>
              <a:rPr kumimoji="1" lang="en-US" altLang="ja-JP" sz="2800" dirty="0">
                <a:latin typeface="ＭＳ 明朝" panose="02020609040205080304" pitchFamily="17" charset="-128"/>
                <a:ea typeface="ＭＳ 明朝" panose="02020609040205080304" pitchFamily="17" charset="-128"/>
              </a:rPr>
              <a:t>: MySQL(</a:t>
            </a:r>
            <a:r>
              <a:rPr kumimoji="1" lang="en-US" altLang="ja-JP" sz="2800" dirty="0" err="1">
                <a:latin typeface="ＭＳ 明朝" panose="02020609040205080304" pitchFamily="17" charset="-128"/>
                <a:ea typeface="ＭＳ 明朝" panose="02020609040205080304" pitchFamily="17" charset="-128"/>
              </a:rPr>
              <a:t>phpMyadmin</a:t>
            </a:r>
            <a:r>
              <a:rPr kumimoji="1" lang="en-US" altLang="ja-JP" sz="2800" dirty="0">
                <a:latin typeface="ＭＳ 明朝" panose="02020609040205080304" pitchFamily="17" charset="-128"/>
                <a:ea typeface="ＭＳ 明朝" panose="02020609040205080304" pitchFamily="17" charset="-128"/>
              </a:rPr>
              <a:t>)</a:t>
            </a:r>
            <a:endParaRPr lang="en-US" altLang="ja-JP" sz="2800" dirty="0">
              <a:latin typeface="ＭＳ 明朝" panose="02020609040205080304" pitchFamily="17" charset="-128"/>
              <a:ea typeface="ＭＳ 明朝" panose="02020609040205080304" pitchFamily="17" charset="-128"/>
            </a:endParaRPr>
          </a:p>
          <a:p>
            <a:pPr marL="0" indent="0">
              <a:buNone/>
            </a:pPr>
            <a:r>
              <a:rPr kumimoji="1" lang="ja-JP" altLang="en-US" sz="2800" dirty="0">
                <a:latin typeface="ＭＳ 明朝" panose="02020609040205080304" pitchFamily="17" charset="-128"/>
                <a:ea typeface="ＭＳ 明朝" panose="02020609040205080304" pitchFamily="17" charset="-128"/>
              </a:rPr>
              <a:t>稼働環境</a:t>
            </a:r>
            <a:r>
              <a:rPr kumimoji="1" lang="en-US" altLang="ja-JP" sz="2800" dirty="0">
                <a:latin typeface="ＭＳ 明朝" panose="02020609040205080304" pitchFamily="17" charset="-128"/>
                <a:ea typeface="ＭＳ 明朝" panose="02020609040205080304" pitchFamily="17" charset="-128"/>
              </a:rPr>
              <a:t>: </a:t>
            </a:r>
            <a:r>
              <a:rPr lang="en-US" altLang="ja-JP" sz="2800" dirty="0">
                <a:latin typeface="ＭＳ 明朝" panose="02020609040205080304" pitchFamily="17" charset="-128"/>
                <a:ea typeface="ＭＳ 明朝" panose="02020609040205080304" pitchFamily="17" charset="-128"/>
              </a:rPr>
              <a:t>XAMPP / Web</a:t>
            </a:r>
            <a:r>
              <a:rPr lang="ja-JP" altLang="en-US" sz="2800" dirty="0">
                <a:latin typeface="ＭＳ 明朝" panose="02020609040205080304" pitchFamily="17" charset="-128"/>
                <a:ea typeface="ＭＳ 明朝" panose="02020609040205080304" pitchFamily="17" charset="-128"/>
              </a:rPr>
              <a:t>サーバー</a:t>
            </a:r>
            <a:endParaRPr lang="en-US" altLang="ja-JP" sz="2800" dirty="0">
              <a:latin typeface="ＭＳ 明朝" panose="02020609040205080304" pitchFamily="17" charset="-128"/>
              <a:ea typeface="ＭＳ 明朝" panose="02020609040205080304" pitchFamily="17" charset="-128"/>
            </a:endParaRPr>
          </a:p>
          <a:p>
            <a:pPr marL="0" indent="0">
              <a:buNone/>
            </a:pPr>
            <a:r>
              <a:rPr lang="en-US" altLang="ja-JP" sz="2800" dirty="0">
                <a:latin typeface="ＭＳ 明朝" panose="02020609040205080304" pitchFamily="17" charset="-128"/>
                <a:ea typeface="ＭＳ 明朝" panose="02020609040205080304" pitchFamily="17" charset="-128"/>
              </a:rPr>
              <a:t>API: </a:t>
            </a:r>
            <a:r>
              <a:rPr lang="en-US" altLang="ja-JP" sz="2800" dirty="0" err="1">
                <a:latin typeface="ＭＳ 明朝" panose="02020609040205080304" pitchFamily="17" charset="-128"/>
                <a:ea typeface="ＭＳ 明朝" panose="02020609040205080304" pitchFamily="17" charset="-128"/>
              </a:rPr>
              <a:t>Everypixel</a:t>
            </a:r>
            <a:r>
              <a:rPr lang="en-US" altLang="ja-JP" sz="2800" dirty="0">
                <a:latin typeface="ＭＳ 明朝" panose="02020609040205080304" pitchFamily="17" charset="-128"/>
                <a:ea typeface="ＭＳ 明朝" panose="02020609040205080304" pitchFamily="17" charset="-128"/>
              </a:rPr>
              <a:t> API(</a:t>
            </a:r>
            <a:r>
              <a:rPr lang="ja-JP" altLang="en-US" sz="2800" dirty="0">
                <a:latin typeface="ＭＳ 明朝" panose="02020609040205080304" pitchFamily="17" charset="-128"/>
                <a:ea typeface="ＭＳ 明朝" panose="02020609040205080304" pitchFamily="17" charset="-128"/>
              </a:rPr>
              <a:t>画像認識</a:t>
            </a:r>
            <a:r>
              <a:rPr lang="en-US" altLang="ja-JP" sz="2800" dirty="0">
                <a:latin typeface="ＭＳ 明朝" panose="02020609040205080304" pitchFamily="17" charset="-128"/>
                <a:ea typeface="ＭＳ 明朝" panose="02020609040205080304" pitchFamily="17" charset="-128"/>
              </a:rPr>
              <a:t>API)</a:t>
            </a:r>
          </a:p>
          <a:p>
            <a:pPr marL="0" indent="0">
              <a:buNone/>
            </a:pPr>
            <a:r>
              <a:rPr lang="ja-JP" altLang="en-US" sz="2800" dirty="0">
                <a:latin typeface="ＭＳ 明朝" panose="02020609040205080304" pitchFamily="17" charset="-128"/>
                <a:ea typeface="ＭＳ 明朝" panose="02020609040205080304" pitchFamily="17" charset="-128"/>
              </a:rPr>
              <a:t>バージョン管理</a:t>
            </a:r>
            <a:r>
              <a:rPr lang="en-US" altLang="ja-JP" sz="2800" dirty="0">
                <a:latin typeface="ＭＳ 明朝" panose="02020609040205080304" pitchFamily="17" charset="-128"/>
                <a:ea typeface="ＭＳ 明朝" panose="02020609040205080304" pitchFamily="17" charset="-128"/>
              </a:rPr>
              <a:t>: GitHub</a:t>
            </a:r>
          </a:p>
          <a:p>
            <a:pPr marL="0" indent="0">
              <a:buNone/>
            </a:pPr>
            <a:endParaRPr lang="en-US" altLang="ja-JP" sz="2800" dirty="0">
              <a:latin typeface="ＭＳ 明朝" panose="02020609040205080304" pitchFamily="17" charset="-128"/>
              <a:ea typeface="ＭＳ 明朝" panose="02020609040205080304" pitchFamily="17" charset="-128"/>
            </a:endParaRPr>
          </a:p>
          <a:p>
            <a:pPr marL="0" indent="0">
              <a:buNone/>
            </a:pPr>
            <a:endParaRPr kumimoji="1" lang="en-US" altLang="ja-JP" sz="2800" dirty="0">
              <a:latin typeface="ＭＳ 明朝" panose="02020609040205080304" pitchFamily="17" charset="-128"/>
              <a:ea typeface="ＭＳ 明朝" panose="02020609040205080304" pitchFamily="17" charset="-128"/>
            </a:endParaRPr>
          </a:p>
          <a:p>
            <a:pPr marL="0" indent="0">
              <a:buNone/>
            </a:pPr>
            <a:endParaRPr kumimoji="1" lang="ja-JP" altLang="en-US" sz="2200" dirty="0">
              <a:latin typeface="ＭＳ 明朝" panose="02020609040205080304" pitchFamily="17" charset="-128"/>
              <a:ea typeface="ＭＳ 明朝" panose="02020609040205080304" pitchFamily="17" charset="-128"/>
            </a:endParaRPr>
          </a:p>
        </p:txBody>
      </p:sp>
    </p:spTree>
    <p:extLst>
      <p:ext uri="{BB962C8B-B14F-4D97-AF65-F5344CB8AC3E}">
        <p14:creationId xmlns:p14="http://schemas.microsoft.com/office/powerpoint/2010/main" val="15670657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418AD42-E15E-41D3-9C21-4093465A7DCA}"/>
              </a:ext>
            </a:extLst>
          </p:cNvPr>
          <p:cNvSpPr>
            <a:spLocks noGrp="1"/>
          </p:cNvSpPr>
          <p:nvPr>
            <p:ph type="title"/>
          </p:nvPr>
        </p:nvSpPr>
        <p:spPr>
          <a:xfrm>
            <a:off x="838200" y="699247"/>
            <a:ext cx="10515600" cy="2013417"/>
          </a:xfrm>
        </p:spPr>
        <p:txBody>
          <a:bodyPr>
            <a:normAutofit/>
          </a:bodyPr>
          <a:lstStyle/>
          <a:p>
            <a:pPr algn="ctr"/>
            <a:r>
              <a:rPr kumimoji="1" lang="ja-JP" altLang="en-US" sz="6600" dirty="0">
                <a:latin typeface="ＭＳ 明朝" panose="02020609040205080304" pitchFamily="17" charset="-128"/>
                <a:ea typeface="ＭＳ 明朝" panose="02020609040205080304" pitchFamily="17" charset="-128"/>
              </a:rPr>
              <a:t>効果</a:t>
            </a:r>
            <a:r>
              <a:rPr lang="ja-JP" altLang="en-US" sz="6600" dirty="0">
                <a:latin typeface="ＭＳ 明朝" panose="02020609040205080304" pitchFamily="17" charset="-128"/>
                <a:ea typeface="ＭＳ 明朝" panose="02020609040205080304" pitchFamily="17" charset="-128"/>
              </a:rPr>
              <a:t>・展望</a:t>
            </a:r>
            <a:endParaRPr kumimoji="1" lang="ja-JP" altLang="en-US" sz="6600" dirty="0">
              <a:latin typeface="ＭＳ 明朝" panose="02020609040205080304" pitchFamily="17" charset="-128"/>
              <a:ea typeface="ＭＳ 明朝" panose="02020609040205080304" pitchFamily="17" charset="-128"/>
            </a:endParaRPr>
          </a:p>
        </p:txBody>
      </p:sp>
      <p:sp>
        <p:nvSpPr>
          <p:cNvPr id="3" name="コンテンツ プレースホルダー 2">
            <a:extLst>
              <a:ext uri="{FF2B5EF4-FFF2-40B4-BE49-F238E27FC236}">
                <a16:creationId xmlns:a16="http://schemas.microsoft.com/office/drawing/2014/main" id="{C457F91C-1959-44F2-B5D2-D9158C8C9C34}"/>
              </a:ext>
            </a:extLst>
          </p:cNvPr>
          <p:cNvSpPr>
            <a:spLocks noGrp="1"/>
          </p:cNvSpPr>
          <p:nvPr>
            <p:ph idx="1"/>
          </p:nvPr>
        </p:nvSpPr>
        <p:spPr>
          <a:xfrm>
            <a:off x="410135" y="2453669"/>
            <a:ext cx="11557747" cy="3383335"/>
          </a:xfrm>
        </p:spPr>
        <p:txBody>
          <a:bodyPr>
            <a:noAutofit/>
          </a:bodyPr>
          <a:lstStyle/>
          <a:p>
            <a:pPr marL="0" indent="0">
              <a:buNone/>
            </a:pPr>
            <a:r>
              <a:rPr lang="ja-JP" altLang="en-US" sz="2800" dirty="0">
                <a:latin typeface="ＭＳ 明朝" panose="02020609040205080304" pitchFamily="17" charset="-128"/>
                <a:ea typeface="ＭＳ 明朝" panose="02020609040205080304" pitchFamily="17" charset="-128"/>
              </a:rPr>
              <a:t>薬局の負担削減</a:t>
            </a:r>
            <a:endParaRPr lang="en-US" altLang="ja-JP" sz="2800" dirty="0">
              <a:latin typeface="ＭＳ 明朝" panose="02020609040205080304" pitchFamily="17" charset="-128"/>
              <a:ea typeface="ＭＳ 明朝" panose="02020609040205080304" pitchFamily="17" charset="-128"/>
            </a:endParaRPr>
          </a:p>
          <a:p>
            <a:pPr marL="0" indent="0">
              <a:buNone/>
            </a:pPr>
            <a:r>
              <a:rPr lang="ja-JP" altLang="en-US" sz="2800" dirty="0">
                <a:latin typeface="ＭＳ 明朝" panose="02020609040205080304" pitchFamily="17" charset="-128"/>
                <a:ea typeface="ＭＳ 明朝" panose="02020609040205080304" pitchFamily="17" charset="-128"/>
              </a:rPr>
              <a:t>病院への再入院等医療費削減</a:t>
            </a:r>
            <a:endParaRPr lang="en-US" altLang="ja-JP" sz="2800" dirty="0">
              <a:latin typeface="ＭＳ 明朝" panose="02020609040205080304" pitchFamily="17" charset="-128"/>
              <a:ea typeface="ＭＳ 明朝" panose="02020609040205080304" pitchFamily="17" charset="-128"/>
            </a:endParaRPr>
          </a:p>
          <a:p>
            <a:pPr marL="0" indent="0">
              <a:buNone/>
            </a:pPr>
            <a:r>
              <a:rPr lang="ja-JP" altLang="en-US" sz="2800" dirty="0">
                <a:latin typeface="ＭＳ 明朝" panose="02020609040205080304" pitchFamily="17" charset="-128"/>
                <a:ea typeface="ＭＳ 明朝" panose="02020609040205080304" pitchFamily="17" charset="-128"/>
              </a:rPr>
              <a:t>「見える化」「継続支援」を通じて患者の健康と薬局の業務効率化を同時に</a:t>
            </a:r>
            <a:endParaRPr lang="en-US" altLang="ja-JP" sz="2800" dirty="0">
              <a:latin typeface="ＭＳ 明朝" panose="02020609040205080304" pitchFamily="17" charset="-128"/>
              <a:ea typeface="ＭＳ 明朝" panose="02020609040205080304" pitchFamily="17" charset="-128"/>
            </a:endParaRPr>
          </a:p>
          <a:p>
            <a:pPr marL="0" indent="0">
              <a:buNone/>
            </a:pPr>
            <a:r>
              <a:rPr kumimoji="1" lang="en-US" altLang="ja-JP" sz="2800" dirty="0">
                <a:latin typeface="ＭＳ 明朝" panose="02020609040205080304" pitchFamily="17" charset="-128"/>
                <a:ea typeface="ＭＳ 明朝" panose="02020609040205080304" pitchFamily="17" charset="-128"/>
              </a:rPr>
              <a:t>	</a:t>
            </a:r>
          </a:p>
          <a:p>
            <a:pPr marL="0" indent="0">
              <a:buNone/>
            </a:pPr>
            <a:endParaRPr lang="en-US" altLang="ja-JP" sz="2800" dirty="0">
              <a:latin typeface="ＭＳ 明朝" panose="02020609040205080304" pitchFamily="17" charset="-128"/>
              <a:ea typeface="ＭＳ 明朝" panose="02020609040205080304" pitchFamily="17" charset="-128"/>
            </a:endParaRPr>
          </a:p>
          <a:p>
            <a:pPr marL="0" indent="0">
              <a:buNone/>
            </a:pPr>
            <a:endParaRPr lang="en-US" altLang="ja-JP" sz="2800" dirty="0">
              <a:latin typeface="ＭＳ 明朝" panose="02020609040205080304" pitchFamily="17" charset="-128"/>
              <a:ea typeface="ＭＳ 明朝" panose="02020609040205080304" pitchFamily="17" charset="-128"/>
            </a:endParaRPr>
          </a:p>
          <a:p>
            <a:pPr marL="0" indent="0">
              <a:buNone/>
            </a:pPr>
            <a:endParaRPr kumimoji="1" lang="ja-JP" altLang="en-US" sz="2800" dirty="0">
              <a:latin typeface="ＭＳ 明朝" panose="02020609040205080304" pitchFamily="17" charset="-128"/>
              <a:ea typeface="ＭＳ 明朝" panose="02020609040205080304" pitchFamily="17" charset="-128"/>
            </a:endParaRPr>
          </a:p>
        </p:txBody>
      </p:sp>
    </p:spTree>
    <p:extLst>
      <p:ext uri="{BB962C8B-B14F-4D97-AF65-F5344CB8AC3E}">
        <p14:creationId xmlns:p14="http://schemas.microsoft.com/office/powerpoint/2010/main" val="11009054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192A50-0D60-40B3-B9AE-1528C3C993EF}"/>
              </a:ext>
            </a:extLst>
          </p:cNvPr>
          <p:cNvSpPr>
            <a:spLocks noGrp="1"/>
          </p:cNvSpPr>
          <p:nvPr>
            <p:ph type="title"/>
          </p:nvPr>
        </p:nvSpPr>
        <p:spPr/>
        <p:txBody>
          <a:bodyPr>
            <a:normAutofit/>
          </a:bodyPr>
          <a:lstStyle/>
          <a:p>
            <a:pPr algn="ctr"/>
            <a:r>
              <a:rPr kumimoji="1" lang="ja-JP" altLang="en-US" sz="6600" dirty="0">
                <a:latin typeface="ＭＳ 明朝" panose="02020609040205080304" pitchFamily="17" charset="-128"/>
                <a:ea typeface="ＭＳ 明朝" panose="02020609040205080304" pitchFamily="17" charset="-128"/>
              </a:rPr>
              <a:t>工夫した点</a:t>
            </a:r>
          </a:p>
        </p:txBody>
      </p:sp>
      <p:sp>
        <p:nvSpPr>
          <p:cNvPr id="3" name="コンテンツ プレースホルダー 2">
            <a:extLst>
              <a:ext uri="{FF2B5EF4-FFF2-40B4-BE49-F238E27FC236}">
                <a16:creationId xmlns:a16="http://schemas.microsoft.com/office/drawing/2014/main" id="{75CEB1F1-CA88-4265-9B6E-076CFB9A69D1}"/>
              </a:ext>
            </a:extLst>
          </p:cNvPr>
          <p:cNvSpPr>
            <a:spLocks noGrp="1"/>
          </p:cNvSpPr>
          <p:nvPr>
            <p:ph idx="1"/>
          </p:nvPr>
        </p:nvSpPr>
        <p:spPr>
          <a:xfrm>
            <a:off x="3398846" y="2217761"/>
            <a:ext cx="5394308" cy="3560870"/>
          </a:xfrm>
        </p:spPr>
        <p:txBody>
          <a:bodyPr>
            <a:normAutofit/>
          </a:bodyPr>
          <a:lstStyle/>
          <a:p>
            <a:pPr marL="0" indent="0">
              <a:buNone/>
            </a:pPr>
            <a:r>
              <a:rPr lang="ja-JP" altLang="en-US" sz="2800" dirty="0">
                <a:latin typeface="ＭＳ 明朝" panose="02020609040205080304" pitchFamily="17" charset="-128"/>
                <a:ea typeface="ＭＳ 明朝" panose="02020609040205080304" pitchFamily="17" charset="-128"/>
              </a:rPr>
              <a:t>①実用的なフィードバック</a:t>
            </a:r>
            <a:endParaRPr lang="en-US" altLang="ja-JP" sz="2800" dirty="0">
              <a:latin typeface="ＭＳ 明朝" panose="02020609040205080304" pitchFamily="17" charset="-128"/>
              <a:ea typeface="ＭＳ 明朝" panose="02020609040205080304" pitchFamily="17" charset="-128"/>
            </a:endParaRPr>
          </a:p>
          <a:p>
            <a:pPr marL="0" indent="0">
              <a:buNone/>
            </a:pPr>
            <a:endParaRPr lang="en-US" altLang="ja-JP" sz="2800" dirty="0">
              <a:latin typeface="ＭＳ 明朝" panose="02020609040205080304" pitchFamily="17" charset="-128"/>
              <a:ea typeface="ＭＳ 明朝" panose="02020609040205080304" pitchFamily="17" charset="-128"/>
            </a:endParaRPr>
          </a:p>
          <a:p>
            <a:pPr marL="0" indent="0">
              <a:buNone/>
            </a:pPr>
            <a:r>
              <a:rPr lang="ja-JP" altLang="en-US" sz="2800" dirty="0">
                <a:latin typeface="ＭＳ 明朝" panose="02020609040205080304" pitchFamily="17" charset="-128"/>
                <a:ea typeface="ＭＳ 明朝" panose="02020609040205080304" pitchFamily="17" charset="-128"/>
              </a:rPr>
              <a:t>②柔軟な技術選定と課題解決</a:t>
            </a:r>
            <a:endParaRPr lang="en-US" altLang="ja-JP" sz="2800" dirty="0">
              <a:latin typeface="ＭＳ 明朝" panose="02020609040205080304" pitchFamily="17" charset="-128"/>
              <a:ea typeface="ＭＳ 明朝" panose="02020609040205080304" pitchFamily="17" charset="-128"/>
            </a:endParaRPr>
          </a:p>
          <a:p>
            <a:pPr marL="0" indent="0">
              <a:buNone/>
            </a:pPr>
            <a:endParaRPr lang="en-US" altLang="ja-JP" sz="2800" dirty="0">
              <a:latin typeface="ＭＳ 明朝" panose="02020609040205080304" pitchFamily="17" charset="-128"/>
              <a:ea typeface="ＭＳ 明朝" panose="02020609040205080304" pitchFamily="17" charset="-128"/>
            </a:endParaRPr>
          </a:p>
          <a:p>
            <a:pPr marL="0" indent="0">
              <a:buNone/>
            </a:pPr>
            <a:r>
              <a:rPr lang="ja-JP" altLang="en-US" sz="2800" dirty="0">
                <a:latin typeface="ＭＳ 明朝" panose="02020609040205080304" pitchFamily="17" charset="-128"/>
                <a:ea typeface="ＭＳ 明朝" panose="02020609040205080304" pitchFamily="17" charset="-128"/>
              </a:rPr>
              <a:t>③徹底したシンプル操作</a:t>
            </a:r>
            <a:endParaRPr lang="en-US" altLang="ja-JP" sz="2800" dirty="0">
              <a:latin typeface="ＭＳ 明朝" panose="02020609040205080304" pitchFamily="17" charset="-128"/>
              <a:ea typeface="ＭＳ 明朝" panose="02020609040205080304" pitchFamily="17" charset="-128"/>
            </a:endParaRPr>
          </a:p>
          <a:p>
            <a:pPr marL="0" indent="0">
              <a:buNone/>
            </a:pPr>
            <a:endParaRPr kumimoji="1" lang="en-US" altLang="ja-JP" sz="2800" dirty="0">
              <a:latin typeface="ＭＳ 明朝" panose="02020609040205080304" pitchFamily="17" charset="-128"/>
              <a:ea typeface="ＭＳ 明朝" panose="02020609040205080304" pitchFamily="17" charset="-128"/>
            </a:endParaRPr>
          </a:p>
          <a:p>
            <a:pPr marL="0" indent="0">
              <a:buNone/>
            </a:pPr>
            <a:endParaRPr kumimoji="1" lang="ja-JP" altLang="en-US" sz="2800" dirty="0">
              <a:latin typeface="ＭＳ 明朝" panose="02020609040205080304" pitchFamily="17" charset="-128"/>
              <a:ea typeface="ＭＳ 明朝" panose="02020609040205080304" pitchFamily="17" charset="-128"/>
            </a:endParaRPr>
          </a:p>
        </p:txBody>
      </p:sp>
    </p:spTree>
    <p:extLst>
      <p:ext uri="{BB962C8B-B14F-4D97-AF65-F5344CB8AC3E}">
        <p14:creationId xmlns:p14="http://schemas.microsoft.com/office/powerpoint/2010/main" val="20174049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9482DD8-77CD-48FA-8EE7-CF1B811E029F}"/>
              </a:ext>
            </a:extLst>
          </p:cNvPr>
          <p:cNvSpPr>
            <a:spLocks noGrp="1"/>
          </p:cNvSpPr>
          <p:nvPr>
            <p:ph type="title"/>
          </p:nvPr>
        </p:nvSpPr>
        <p:spPr/>
        <p:txBody>
          <a:bodyPr>
            <a:normAutofit/>
          </a:bodyPr>
          <a:lstStyle/>
          <a:p>
            <a:pPr algn="ctr"/>
            <a:r>
              <a:rPr kumimoji="1" lang="ja-JP" altLang="en-US" sz="6600" dirty="0">
                <a:latin typeface="ＭＳ 明朝" panose="02020609040205080304" pitchFamily="17" charset="-128"/>
                <a:ea typeface="ＭＳ 明朝" panose="02020609040205080304" pitchFamily="17" charset="-128"/>
              </a:rPr>
              <a:t>質疑応答</a:t>
            </a:r>
          </a:p>
        </p:txBody>
      </p:sp>
    </p:spTree>
    <p:extLst>
      <p:ext uri="{BB962C8B-B14F-4D97-AF65-F5344CB8AC3E}">
        <p14:creationId xmlns:p14="http://schemas.microsoft.com/office/powerpoint/2010/main" val="20070941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3CE605B-1AE7-49FF-99DF-9B2C158FCA7A}"/>
              </a:ext>
            </a:extLst>
          </p:cNvPr>
          <p:cNvSpPr>
            <a:spLocks noGrp="1"/>
          </p:cNvSpPr>
          <p:nvPr>
            <p:ph type="title"/>
          </p:nvPr>
        </p:nvSpPr>
        <p:spPr>
          <a:xfrm>
            <a:off x="169626" y="670048"/>
            <a:ext cx="12022374" cy="1049235"/>
          </a:xfrm>
        </p:spPr>
        <p:txBody>
          <a:bodyPr>
            <a:noAutofit/>
          </a:bodyPr>
          <a:lstStyle/>
          <a:p>
            <a:r>
              <a:rPr kumimoji="1" lang="ja-JP" altLang="en-US" sz="6600" dirty="0">
                <a:latin typeface="ＭＳ 明朝" panose="02020609040205080304" pitchFamily="17" charset="-128"/>
                <a:ea typeface="ＭＳ 明朝" panose="02020609040205080304" pitchFamily="17" charset="-128"/>
              </a:rPr>
              <a:t>ご清聴ありがとうございました</a:t>
            </a:r>
          </a:p>
        </p:txBody>
      </p:sp>
    </p:spTree>
    <p:extLst>
      <p:ext uri="{BB962C8B-B14F-4D97-AF65-F5344CB8AC3E}">
        <p14:creationId xmlns:p14="http://schemas.microsoft.com/office/powerpoint/2010/main" val="2807848975"/>
      </p:ext>
    </p:extLst>
  </p:cSld>
  <p:clrMapOvr>
    <a:masterClrMapping/>
  </p:clrMapOvr>
</p:sld>
</file>

<file path=ppt/theme/theme1.xml><?xml version="1.0" encoding="utf-8"?>
<a:theme xmlns:a="http://schemas.openxmlformats.org/drawingml/2006/main" name="ギャラリー">
  <a:themeElements>
    <a:clrScheme name="ギャラリー">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ギャラリー">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ギャラリー">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715</TotalTime>
  <Words>2096</Words>
  <Application>Microsoft Office PowerPoint</Application>
  <PresentationFormat>ワイド画面</PresentationFormat>
  <Paragraphs>157</Paragraphs>
  <Slides>17</Slides>
  <Notes>15</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17</vt:i4>
      </vt:variant>
    </vt:vector>
  </HeadingPairs>
  <TitlesOfParts>
    <vt:vector size="23" baseType="lpstr">
      <vt:lpstr>ＭＳ 明朝</vt:lpstr>
      <vt:lpstr>游ゴシック</vt:lpstr>
      <vt:lpstr>游ゴシック Light</vt:lpstr>
      <vt:lpstr>Arial</vt:lpstr>
      <vt:lpstr>Gill Sans MT</vt:lpstr>
      <vt:lpstr>ギャラリー</vt:lpstr>
      <vt:lpstr>AI×服薬管理システム メディケア・リワード</vt:lpstr>
      <vt:lpstr>目次</vt:lpstr>
      <vt:lpstr>ペルソナ</vt:lpstr>
      <vt:lpstr>背景</vt:lpstr>
      <vt:lpstr>現状の課題</vt:lpstr>
      <vt:lpstr>課題の影響</vt:lpstr>
      <vt:lpstr>コンセプト</vt:lpstr>
      <vt:lpstr>AIの役割</vt:lpstr>
      <vt:lpstr>流れ(患者側)</vt:lpstr>
      <vt:lpstr>流れ(薬局側)</vt:lpstr>
      <vt:lpstr>流れ(家族側)</vt:lpstr>
      <vt:lpstr>システム概要</vt:lpstr>
      <vt:lpstr>技術構成</vt:lpstr>
      <vt:lpstr>効果・展望</vt:lpstr>
      <vt:lpstr>工夫した点</vt:lpstr>
      <vt:lpstr>質疑応答</vt:lpstr>
      <vt:lpstr>ご清聴ありがとうございました</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AI×服薬管理システム メディケア・リワード</dc:title>
  <dc:creator>2024_MS 中村 颯真</dc:creator>
  <cp:lastModifiedBy>2024_MS 中村 颯真</cp:lastModifiedBy>
  <cp:revision>67</cp:revision>
  <dcterms:created xsi:type="dcterms:W3CDTF">2025-10-30T02:45:03Z</dcterms:created>
  <dcterms:modified xsi:type="dcterms:W3CDTF">2026-02-26T05:02:12Z</dcterms:modified>
</cp:coreProperties>
</file>